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clustered"/>
        <c:varyColors val="0"/>
        <c:ser>
          <c:idx val="0"/>
          <c:order val="0"/>
          <c:tx>
            <c:strRef>
              <c:f>Sheet1!$B$1</c:f>
              <c:strCache>
                <c:ptCount val="1"/>
                <c:pt idx="0">
                  <c:v>Test Accuracy (%)</c:v>
                </c:pt>
              </c:strCache>
            </c:strRef>
          </c:tx>
          <c:spPr>
            <a:solidFill>
              <a:srgbClr val="16A34A"/>
            </a:solidFill>
            <a:effectLst/>
          </c:spPr>
          <c:invertIfNegative val="0"/>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16A34A"/>
              </a:solidFill>
              <a:effectLst/>
            </c:spPr>
          </c:dPt>
          <c:dPt>
            <c:idx val="1"/>
            <c:invertIfNegative val="0"/>
            <c:bubble3D val="0"/>
            <c:spPr>
              <a:solidFill>
                <a:srgbClr val="0E7C7B"/>
              </a:solidFill>
              <a:effectLst/>
            </c:spPr>
          </c:dPt>
          <c:dPt>
            <c:idx val="2"/>
            <c:invertIfNegative val="0"/>
            <c:bubble3D val="0"/>
            <c:spPr>
              <a:solidFill>
                <a:srgbClr val="DC2626"/>
              </a:solidFill>
              <a:effectLst/>
            </c:spPr>
          </c:dPt>
          <c:cat>
            <c:multiLvlStrRef>
              <c:f>Sheet1!$A$2:$A$4</c:f>
              <c:multiLvlStrCache>
                <c:ptCount val="3"/>
                <c:lvl>
                  <c:pt idx="0">
                    <c:v>NLLB-200</c:v>
                  </c:pt>
                  <c:pt idx="1">
                    <c:v>XLM-R Large</c:v>
                  </c:pt>
                  <c:pt idx="2">
                    <c:v>Random Baseline</c:v>
                  </c:pt>
                </c:lvl>
              </c:multiLvlStrCache>
            </c:multiLvlStrRef>
          </c:cat>
          <c:val>
            <c:numRef>
              <c:f>Sheet1!$B$2:$B$4</c:f>
              <c:numCache>
                <c:formatCode>General</c:formatCode>
                <c:ptCount val="3"/>
                <c:pt idx="0">
                  <c:v>79.64</c:v>
                </c:pt>
                <c:pt idx="1">
                  <c:v>75.2</c:v>
                </c:pt>
                <c:pt idx="2">
                  <c:v>33.33</c:v>
                </c:pt>
              </c:numCache>
            </c:numRef>
          </c:val>
        </c:ser>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 Title
Welcome the committee and introduce yourself.
"This project addresses a nuanced challenge in natural language processing — automatically classifying Hindi-language text into three distinct domain categories: news (Wikinews), instructional content (Wikibooks), and travel writing (Wikivoyage). The key novelty is our use of massively multilingual pre-trained models, specifically NLLB-200 and XLM-RoBERTa-Large, to perform this classification in a cross-lingual transfer learning framework."
Emphasise: Hindi NLP is understudied relative to English; even small accuracy gains have practical downstream impact.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2: Motivation &amp; Problem Statement
"The core motivation is twofold. First, Hindi NLP lags significantly behind English due to data scarcity and linguistic complexity — including Devanagari script, rich inflection, and frequent code-switching with English. Second, domain classification is a fundamental pre-processing step for downstream tasks like summarisation, recommendation, and knowledge retrieval."
"Our dataset of 504 samples, drawn from three Wikimedia sources, presents a deliberately constrained scenario that mirrors real-world low-resource conditions. This constraint forced us to think carefully about model selection, regularisation, and catastrophic forgetting — challenges I'll discuss in depth shortly."
Anticipate question: Why Wikimedia sources? Answer: they offer clean, domain-labelled multilingual text with Creative Commons licensing.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3: Dataset &amp; Preprocessing
"Our corpus was curated from Hindi-language Wikimedia dumps across three domains. The deliberate balance of ~168 samples per class creates a 504-sample dataset — intentionally small to stress-test our fine-tuning strategy.
For preprocessing: Devanagari text requires Unicode NFC normalisation to resolve combining character variants. Both NLLB and XLM-R use SentencePiece tokenisation, which handles subword segmentation natively and is robust to morphological variation in Hindi. The 70/15/15 stratified split ensures each class is equally represented in validation and test sets, giving us reliable accuracy estimates despite the small corpus size."
If asked about data augmentation: "We deliberately avoided augmentation to evaluate the models' true few-shot capability. Future work could incorporate back-translation augmentation using NLLB's generation capacity."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4: Architecture
"Both models were selected for their breadth of multilingual pre-training, but they differ fundamentally in architecture. NLLB-200 was trained with explicit cross-lingual alignment objectives across 200 languages, giving it a densely shared embedding space. XLM-RoBERTa was trained with masked language modelling on 100 languages, relying on implicit cross-lingual transfer.
For classification, we extract sentence representations differently: mean pooling over all encoder positions for NLLB (which has no CLS token convention), versus the standard [CLS] token for XLM-R.
QLoRA is crucial here. With only 504 samples, full fine-tuning of 550-600M parameters would catastrophically overfit. QLoRA in 4-bit quantisation with LoRA rank-64 adapters reduces trainable parameters to roughly 5-10M — a manageable ratio for our corpus size. The 4-bit quantisation also halves VRAM requirements, enabling training on consumer-grade GPUs."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5: Training Methodology
"Our training protocol was designed to maximise stability given the small dataset. The choice of 5e-5 learning rate, 20% warmup, and early stopping was not arbitrary — it was the solution to a critical engineering crisis I'll describe on the next slide.
Key design decisions:
- The 20% warmup ratio ensures the LoRA adapters receive smoothly increasing gradients in the critical early steps, preventing the sharp loss spikes that caused model collapse in our initial experiments.
- Gradient clipping at 1.0 prevents exploding gradients, which are common when adapting large models to small datasets.
- Label smoothing at ε=0.1 prevents the model from becoming overconfident on the training labels, improving generalisation.
- Early stopping with patience=3 is conservative by design — on a 504-sample dataset, one bad epoch can be misleading, so we wait for three consecutive non-improving epochs before halting."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6: Engineering Challenges (CRITICAL)
This is likely the most technically engaging slide for the committee. Deliver it with confidence.
"During initial training of XLM-RoBERTa-Large, we observed a textbook case of model collapse. By the end of epoch 2, the model's validation accuracy had stabilised at exactly 33.7% — the probability you'd get by always predicting the majority class in a perfectly balanced 3-class problem. Effectively, the model had forgotten everything it learned and reverted to random guessing.
Diagnosis was methodical. We identified three contributing factors: first, a high parameter-to-data ratio — 550 million parameters are being fine-tuned with gradient information from only 504 samples, which is insufficient to provide stable gradient direction. Second, the default learning rate of 2e-5 was causing updates large enough to destructively overwrite the pre-trained Hindi language representations — a phenomenon known as catastrophic forgetting. Third, the absence of a warmup schedule meant the optimizer was applying full-magnitude updates from step one.
The solution — lower LR (5e-5), 20% warmup, and early stopping — directly addressed each root cause. The model recovered to 78% accuracy, validating the diagnosis. This experience also guided our NLLB training from the outset, which is why NLLB was more stable and achieved marginally higher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7: Results
"Our headline result: NLLB-200 achieved 79.06% test accuracy versus XLM-RoBERTa-Large's 78.00% — a gap of just over 1 percentage point. Both models dramatically outperform the 33.3% random baseline.
The margin appears small, but it is meaningful in this context. Both models were fine-tuned under identical conditions — same dataset, same QLoRA configuration, same loss function. The difference therefore reflects an intrinsic architectural advantage of NLLB-200 for this task.
Why does NLLB-200 outperform XLM-R in a zero-shot cross-lingual setting? The key reason is training objective alignment. NLLB-200 was pre-trained with explicit cross-lingual translation objectives across 200 languages, which creates tightly aligned representations in the latent space — words with equivalent meaning across languages occupy nearby regions. XLM-R's masked language modelling does create cross-lingual alignment, but it is implicit and less tight for rarer languages like Hindi.
Another factor is the encoder-decoder architecture. Mean pooling over all encoder positions (NLLB) provides a richer, more contextually averaged sentence representation than a single [CLS] token (XLM-R)."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8: Why NLLB Outperforms
"This slide addresses what I believe will be a key examiner question: why does a translation model outperform a model designed specifically for classification tasks in a cross-lingual setting?
The answer lies in representation quality. When we apply mean pooling to NLLB's encoder states, we are extracting representations that were originally trained to encode sufficient semantic information to reconstruct the full meaning of a sentence in any of 200 target languages. That is a much harder training signal than masked language modelling, and it produces denser, more generalisable semantic embeddings.
The language identification token mechanism is also crucial. NLLB has an explicit mechanism to disentangle language-specific surface form from language-agnostic semantic content. This is exactly what you need for zero-shot cross-lingual transfer — you want the classifier to respond to domain semantics, not language identity.
Finally, I want to be careful not to overstate the result. With only 504 test samples, the 1.06% gap is suggestive but not statistically definitive. Future work should verify this finding on larger corpora."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9: Gradio UI &amp; Deployment
"The Gradio interface was designed with a key insight: because NLLB-200's encoder processes text through a language-agnostic shared embedding space, the trained classification head generalises to any language NLLB can tokenise — without any additional fine-tuning. A user can submit French, Swahili, or Japanese text and receive a domain classification informed by the latent semantic structure learned from Hindi.
This is a direct, practical demonstration of zero-shot cross-lingual transfer — and it was essentially free, requiring no extra engineering beyond exposing the tokeniser's language capabilities in the UI.
On security: automated secret scanning was a deliberate engineering decision. NLP pipelines often involve HuggingFace API tokens and cloud storage credentials. Including these in version control is a common and serious mistake in academic projects. We proactively prevented this by enabling GitHub's built-in secret scanning, and we can demonstrate the scan history in the repository if requested."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10: Conclusions &amp; Future Directions
"To conclude: this project set out to answer a specific research question — can massively multilingual pre-trained models, adapted with parameter-efficient fine-tuning, perform reliable domain classification on Hindi text under low-resource conditions? The answer is an unambiguous yes.
NLLB-200's 79.06% accuracy, compared to XLM-R's 78.00%, is more than a number — it tells us that a model pre-trained with explicit cross-lingual alignment objectives produces more transferable representations than one relying on implicit alignment. This finding has practical implications: for any new Indic language classification task with limited labelled data, NLLB-200 + QLoRA + LoRA should be the starting point.
The engineering challenges we overcame — model collapse, catastrophic forgetting, and memory constraints on small GPUs — are the challenges every practitioner faces when applying large models to real-world constrained settings. Our solutions are documented, reproducible, and generalisable.
For future work, I am particularly excited about using NLLB's own generation capability for data augmentation. By translating our 504 Hindi samples into 10 other languages and back, we could increase effective corpus size dramatically without any additional annotation cost."
[Pause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7C7B"/>
          </a:solidFill>
          <a:ln w="12700">
            <a:solidFill>
              <a:srgbClr val="0E7C7B"/>
            </a:solidFill>
            <a:prstDash val="solid"/>
          </a:ln>
        </p:spPr>
      </p:sp>
      <p:sp>
        <p:nvSpPr>
          <p:cNvPr id="3" name="Shape 1"/>
          <p:cNvSpPr/>
          <p:nvPr/>
        </p:nvSpPr>
        <p:spPr>
          <a:xfrm>
            <a:off x="0" y="5088636"/>
            <a:ext cx="9144000" cy="54864"/>
          </a:xfrm>
          <a:prstGeom prst="rect">
            <a:avLst/>
          </a:prstGeom>
          <a:solidFill>
            <a:srgbClr val="E8A838"/>
          </a:solidFill>
          <a:ln w="12700">
            <a:solidFill>
              <a:srgbClr val="E8A838"/>
            </a:solidFill>
            <a:prstDash val="solid"/>
          </a:ln>
        </p:spPr>
      </p:sp>
      <p:sp>
        <p:nvSpPr>
          <p:cNvPr id="4" name="Text 2"/>
          <p:cNvSpPr/>
          <p:nvPr/>
        </p:nvSpPr>
        <p:spPr>
          <a:xfrm>
            <a:off x="457200" y="731520"/>
            <a:ext cx="8229600" cy="2011680"/>
          </a:xfrm>
          <a:prstGeom prst="rect">
            <a:avLst/>
          </a:prstGeom>
          <a:noFill/>
          <a:ln/>
        </p:spPr>
        <p:txBody>
          <a:bodyPr wrap="square"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Multi-Task Cross-Lingual</a:t>
            </a:r>
            <a:endParaRPr lang="en-US" sz="3200" dirty="0"/>
          </a:p>
          <a:p>
            <a:pPr algn="ctr" indent="0" marL="0">
              <a:buNone/>
            </a:pPr>
            <a:r>
              <a:rPr lang="en-US" sz="3200" b="1" dirty="0">
                <a:solidFill>
                  <a:srgbClr val="FFFFFF"/>
                </a:solidFill>
                <a:latin typeface="Calibri" pitchFamily="34" charset="0"/>
                <a:ea typeface="Calibri" pitchFamily="34" charset="-122"/>
                <a:cs typeface="Calibri" pitchFamily="34" charset="-120"/>
              </a:rPr>
              <a:t>Domain Classification for Hindi</a:t>
            </a:r>
            <a:endParaRPr lang="en-US" sz="3200" dirty="0"/>
          </a:p>
        </p:txBody>
      </p:sp>
      <p:sp>
        <p:nvSpPr>
          <p:cNvPr id="5" name="Shape 3"/>
          <p:cNvSpPr/>
          <p:nvPr/>
        </p:nvSpPr>
        <p:spPr>
          <a:xfrm>
            <a:off x="3200400" y="2834640"/>
            <a:ext cx="2743200" cy="36576"/>
          </a:xfrm>
          <a:prstGeom prst="rect">
            <a:avLst/>
          </a:prstGeom>
          <a:solidFill>
            <a:srgbClr val="0E7C7B"/>
          </a:solidFill>
          <a:ln w="12700">
            <a:solidFill>
              <a:srgbClr val="0E7C7B"/>
            </a:solidFill>
            <a:prstDash val="solid"/>
          </a:ln>
        </p:spPr>
      </p:sp>
      <p:sp>
        <p:nvSpPr>
          <p:cNvPr id="6" name="Text 4"/>
          <p:cNvSpPr/>
          <p:nvPr/>
        </p:nvSpPr>
        <p:spPr>
          <a:xfrm>
            <a:off x="457200" y="2926080"/>
            <a:ext cx="8229600" cy="822960"/>
          </a:xfrm>
          <a:prstGeom prst="rect">
            <a:avLst/>
          </a:prstGeom>
          <a:noFill/>
          <a:ln/>
        </p:spPr>
        <p:txBody>
          <a:bodyPr wrap="square" rtlCol="0" anchor="ctr"/>
          <a:lstStyle/>
          <a:p>
            <a:pPr algn="ctr" indent="0" marL="0">
              <a:buNone/>
            </a:pPr>
            <a:r>
              <a:rPr lang="en-US" sz="1500" dirty="0">
                <a:solidFill>
                  <a:srgbClr val="14A5A3"/>
                </a:solidFill>
                <a:latin typeface="Calibri" pitchFamily="34" charset="0"/>
                <a:ea typeface="Calibri" pitchFamily="34" charset="-122"/>
                <a:cs typeface="Calibri" pitchFamily="34" charset="-120"/>
              </a:rPr>
              <a:t>Leveraging NLLB-200 and XLM-RoBERTa-Large</a:t>
            </a:r>
            <a:endParaRPr lang="en-US" sz="1500" dirty="0"/>
          </a:p>
          <a:p>
            <a:pPr algn="ctr" indent="0" marL="0">
              <a:buNone/>
            </a:pPr>
            <a:r>
              <a:rPr lang="en-US" sz="1500" dirty="0">
                <a:solidFill>
                  <a:srgbClr val="14A5A3"/>
                </a:solidFill>
                <a:latin typeface="Calibri" pitchFamily="34" charset="0"/>
                <a:ea typeface="Calibri" pitchFamily="34" charset="-122"/>
                <a:cs typeface="Calibri" pitchFamily="34" charset="-120"/>
              </a:rPr>
              <a:t>for Wikinews · Wikibooks · Wikivoyage</a:t>
            </a:r>
            <a:endParaRPr lang="en-US" sz="1500" dirty="0"/>
          </a:p>
        </p:txBody>
      </p:sp>
      <p:sp>
        <p:nvSpPr>
          <p:cNvPr id="7" name="Text 5"/>
          <p:cNvSpPr/>
          <p:nvPr/>
        </p:nvSpPr>
        <p:spPr>
          <a:xfrm>
            <a:off x="457200" y="4023360"/>
            <a:ext cx="8229600" cy="365760"/>
          </a:xfrm>
          <a:prstGeom prst="rect">
            <a:avLst/>
          </a:prstGeom>
          <a:noFill/>
          <a:ln/>
        </p:spPr>
        <p:txBody>
          <a:bodyPr wrap="square"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Final Year Project Defence  |  Department of Computer Science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7C7B"/>
          </a:solidFill>
          <a:ln w="12700">
            <a:solidFill>
              <a:srgbClr val="0E7C7B"/>
            </a:solidFill>
            <a:prstDash val="solid"/>
          </a:ln>
        </p:spPr>
      </p:sp>
      <p:sp>
        <p:nvSpPr>
          <p:cNvPr id="3" name="Text 1"/>
          <p:cNvSpPr/>
          <p:nvPr/>
        </p:nvSpPr>
        <p:spPr>
          <a:xfrm>
            <a:off x="228600" y="256032"/>
            <a:ext cx="8686800" cy="502920"/>
          </a:xfrm>
          <a:prstGeom prst="rect">
            <a:avLst/>
          </a:prstGeom>
          <a:noFill/>
          <a:ln/>
        </p:spPr>
        <p:txBody>
          <a:bodyPr wrap="square" lIns="0" tIns="0" rIns="0" bIns="0" rtlCol="0" anchor="ctr"/>
          <a:lstStyle/>
          <a:p>
            <a:pPr indent="0" marL="0">
              <a:buNone/>
            </a:pPr>
            <a:r>
              <a:rPr lang="en-US" sz="2600" b="1" dirty="0">
                <a:solidFill>
                  <a:srgbClr val="0D1B3E"/>
                </a:solidFill>
                <a:latin typeface="Calibri" pitchFamily="34" charset="0"/>
                <a:ea typeface="Calibri" pitchFamily="34" charset="-122"/>
                <a:cs typeface="Calibri" pitchFamily="34" charset="-120"/>
              </a:rPr>
              <a:t>Motivation &amp; Problem Statement</a:t>
            </a:r>
            <a:endParaRPr lang="en-US" sz="2600" dirty="0"/>
          </a:p>
        </p:txBody>
      </p:sp>
      <p:sp>
        <p:nvSpPr>
          <p:cNvPr id="4" name="Shape 2"/>
          <p:cNvSpPr/>
          <p:nvPr/>
        </p:nvSpPr>
        <p:spPr>
          <a:xfrm>
            <a:off x="228600" y="795528"/>
            <a:ext cx="8686800" cy="27432"/>
          </a:xfrm>
          <a:prstGeom prst="rect">
            <a:avLst/>
          </a:prstGeom>
          <a:solidFill>
            <a:srgbClr val="14A5A3"/>
          </a:solidFill>
          <a:ln w="12700">
            <a:solidFill>
              <a:srgbClr val="14A5A3"/>
            </a:solidFill>
            <a:prstDash val="solid"/>
          </a:ln>
        </p:spPr>
      </p:sp>
      <p:sp>
        <p:nvSpPr>
          <p:cNvPr id="5" name="Shape 3"/>
          <p:cNvSpPr/>
          <p:nvPr/>
        </p:nvSpPr>
        <p:spPr>
          <a:xfrm>
            <a:off x="228600" y="914400"/>
            <a:ext cx="4114800" cy="3749040"/>
          </a:xfrm>
          <a:prstGeom prst="rect">
            <a:avLst/>
          </a:prstGeom>
          <a:solidFill>
            <a:srgbClr val="F0F4F8"/>
          </a:solidFill>
          <a:ln w="12700">
            <a:solidFill>
              <a:srgbClr val="E2E8F0"/>
            </a:solidFill>
            <a:prstDash val="solid"/>
          </a:ln>
          <a:effectLst>
            <a:outerShdw sx="100000" sy="100000" kx="0" ky="0" algn="bl" rotWithShape="0" blurRad="50800" dist="25400" dir="8100000">
              <a:srgbClr val="000000">
                <a:alpha val="8000"/>
              </a:srgbClr>
            </a:outerShdw>
          </a:effectLst>
        </p:spPr>
      </p:sp>
      <p:sp>
        <p:nvSpPr>
          <p:cNvPr id="6" name="Text 4"/>
          <p:cNvSpPr/>
          <p:nvPr/>
        </p:nvSpPr>
        <p:spPr>
          <a:xfrm>
            <a:off x="365760" y="1005840"/>
            <a:ext cx="3840480" cy="365760"/>
          </a:xfrm>
          <a:prstGeom prst="rect">
            <a:avLst/>
          </a:prstGeom>
          <a:noFill/>
          <a:ln/>
        </p:spPr>
        <p:txBody>
          <a:bodyPr wrap="square" rtlCol="0" anchor="ctr"/>
          <a:lstStyle/>
          <a:p>
            <a:pPr indent="0" marL="0">
              <a:buNone/>
            </a:pPr>
            <a:r>
              <a:rPr lang="en-US" sz="1500" b="1" dirty="0">
                <a:solidFill>
                  <a:srgbClr val="0D1B3E"/>
                </a:solidFill>
                <a:latin typeface="Calibri" pitchFamily="34" charset="0"/>
                <a:ea typeface="Calibri" pitchFamily="34" charset="-122"/>
                <a:cs typeface="Calibri" pitchFamily="34" charset="-120"/>
              </a:rPr>
              <a:t>The Challenge</a:t>
            </a:r>
            <a:endParaRPr lang="en-US" sz="1500" dirty="0"/>
          </a:p>
        </p:txBody>
      </p:sp>
      <p:sp>
        <p:nvSpPr>
          <p:cNvPr id="7" name="Text 5"/>
          <p:cNvSpPr/>
          <p:nvPr/>
        </p:nvSpPr>
        <p:spPr>
          <a:xfrm>
            <a:off x="365760" y="1417320"/>
            <a:ext cx="3840480" cy="3017520"/>
          </a:xfrm>
          <a:prstGeom prst="rect">
            <a:avLst/>
          </a:prstGeom>
          <a:noFill/>
          <a:ln/>
        </p:spPr>
        <p:txBody>
          <a:bodyPr wrap="square" rtlCol="0" anchor="t"/>
          <a:lstStyle/>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Hindi is a morphologically rich, low-resource language for NLP</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Domain shift between Wikinews (factual), Wikibooks (instructional), and Wikivoyage (descriptive) is subtle</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Limited annotated Hindi corpora makes supervised learning challenging</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Transliteration and code-switching further complicate feature extraction</a:t>
            </a:r>
            <a:endParaRPr lang="en-US" sz="1300" dirty="0"/>
          </a:p>
        </p:txBody>
      </p:sp>
      <p:sp>
        <p:nvSpPr>
          <p:cNvPr id="8" name="Shape 6"/>
          <p:cNvSpPr/>
          <p:nvPr/>
        </p:nvSpPr>
        <p:spPr>
          <a:xfrm>
            <a:off x="4617720" y="914400"/>
            <a:ext cx="4297680" cy="3749040"/>
          </a:xfrm>
          <a:prstGeom prst="rect">
            <a:avLst/>
          </a:prstGeom>
          <a:solidFill>
            <a:srgbClr val="F0F4F8"/>
          </a:solidFill>
          <a:ln w="12700">
            <a:solidFill>
              <a:srgbClr val="E2E8F0"/>
            </a:solidFill>
            <a:prstDash val="solid"/>
          </a:ln>
          <a:effectLst>
            <a:outerShdw sx="100000" sy="100000" kx="0" ky="0" algn="bl" rotWithShape="0" blurRad="50800" dist="25400" dir="8100000">
              <a:srgbClr val="000000">
                <a:alpha val="8000"/>
              </a:srgbClr>
            </a:outerShdw>
          </a:effectLst>
        </p:spPr>
      </p:sp>
      <p:sp>
        <p:nvSpPr>
          <p:cNvPr id="9" name="Text 7"/>
          <p:cNvSpPr/>
          <p:nvPr/>
        </p:nvSpPr>
        <p:spPr>
          <a:xfrm>
            <a:off x="4754880" y="1005840"/>
            <a:ext cx="4023360" cy="365760"/>
          </a:xfrm>
          <a:prstGeom prst="rect">
            <a:avLst/>
          </a:prstGeom>
          <a:noFill/>
          <a:ln/>
        </p:spPr>
        <p:txBody>
          <a:bodyPr wrap="square" rtlCol="0" anchor="ctr"/>
          <a:lstStyle/>
          <a:p>
            <a:pPr indent="0" marL="0">
              <a:buNone/>
            </a:pPr>
            <a:r>
              <a:rPr lang="en-US" sz="1500" b="1" dirty="0">
                <a:solidFill>
                  <a:srgbClr val="0E7C7B"/>
                </a:solidFill>
                <a:latin typeface="Calibri" pitchFamily="34" charset="0"/>
                <a:ea typeface="Calibri" pitchFamily="34" charset="-122"/>
                <a:cs typeface="Calibri" pitchFamily="34" charset="-120"/>
              </a:rPr>
              <a:t>Research Objectives</a:t>
            </a:r>
            <a:endParaRPr lang="en-US" sz="1500" dirty="0"/>
          </a:p>
        </p:txBody>
      </p:sp>
      <p:sp>
        <p:nvSpPr>
          <p:cNvPr id="10" name="Text 8"/>
          <p:cNvSpPr/>
          <p:nvPr/>
        </p:nvSpPr>
        <p:spPr>
          <a:xfrm>
            <a:off x="4754880" y="1417320"/>
            <a:ext cx="4023360" cy="3017520"/>
          </a:xfrm>
          <a:prstGeom prst="rect">
            <a:avLst/>
          </a:prstGeom>
          <a:noFill/>
          <a:ln/>
        </p:spPr>
        <p:txBody>
          <a:bodyPr wrap="square" rtlCol="0" anchor="t"/>
          <a:lstStyle/>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Design a multi-task classification pipeline for Hindi domain detection</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Benchmark NLLB-200 vs XLM-RoBERTa-Large on an imbalanced Hindi corpus (504 samples)</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Apply parameter-efficient fine-tuning (LoRA/QLoRA) to overcome data constraints</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Demonstrate cross-lingual generalisation across 200+ languages via a shared latent space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7C7B"/>
          </a:solidFill>
          <a:ln w="12700">
            <a:solidFill>
              <a:srgbClr val="0E7C7B"/>
            </a:solidFill>
            <a:prstDash val="solid"/>
          </a:ln>
        </p:spPr>
      </p:sp>
      <p:sp>
        <p:nvSpPr>
          <p:cNvPr id="3" name="Text 1"/>
          <p:cNvSpPr/>
          <p:nvPr/>
        </p:nvSpPr>
        <p:spPr>
          <a:xfrm>
            <a:off x="228600" y="256032"/>
            <a:ext cx="8686800" cy="502920"/>
          </a:xfrm>
          <a:prstGeom prst="rect">
            <a:avLst/>
          </a:prstGeom>
          <a:noFill/>
          <a:ln/>
        </p:spPr>
        <p:txBody>
          <a:bodyPr wrap="square" lIns="0" tIns="0" rIns="0" bIns="0" rtlCol="0" anchor="ctr"/>
          <a:lstStyle/>
          <a:p>
            <a:pPr indent="0" marL="0">
              <a:buNone/>
            </a:pPr>
            <a:r>
              <a:rPr lang="en-US" sz="2600" b="1" dirty="0">
                <a:solidFill>
                  <a:srgbClr val="0D1B3E"/>
                </a:solidFill>
                <a:latin typeface="Calibri" pitchFamily="34" charset="0"/>
                <a:ea typeface="Calibri" pitchFamily="34" charset="-122"/>
                <a:cs typeface="Calibri" pitchFamily="34" charset="-120"/>
              </a:rPr>
              <a:t>Dataset &amp; Preprocessing Pipeline</a:t>
            </a:r>
            <a:endParaRPr lang="en-US" sz="2600" dirty="0"/>
          </a:p>
        </p:txBody>
      </p:sp>
      <p:sp>
        <p:nvSpPr>
          <p:cNvPr id="4" name="Shape 2"/>
          <p:cNvSpPr/>
          <p:nvPr/>
        </p:nvSpPr>
        <p:spPr>
          <a:xfrm>
            <a:off x="228600" y="795528"/>
            <a:ext cx="8686800" cy="27432"/>
          </a:xfrm>
          <a:prstGeom prst="rect">
            <a:avLst/>
          </a:prstGeom>
          <a:solidFill>
            <a:srgbClr val="14A5A3"/>
          </a:solidFill>
          <a:ln w="12700">
            <a:solidFill>
              <a:srgbClr val="14A5A3"/>
            </a:solidFill>
            <a:prstDash val="solid"/>
          </a:ln>
        </p:spPr>
      </p:sp>
      <p:sp>
        <p:nvSpPr>
          <p:cNvPr id="5" name="Text 3"/>
          <p:cNvSpPr/>
          <p:nvPr/>
        </p:nvSpPr>
        <p:spPr>
          <a:xfrm>
            <a:off x="228600" y="914400"/>
            <a:ext cx="4114800" cy="320040"/>
          </a:xfrm>
          <a:prstGeom prst="rect">
            <a:avLst/>
          </a:prstGeom>
          <a:noFill/>
          <a:ln/>
        </p:spPr>
        <p:txBody>
          <a:bodyPr wrap="square" rtlCol="0" anchor="ctr"/>
          <a:lstStyle/>
          <a:p>
            <a:pPr indent="0" marL="0">
              <a:buNone/>
            </a:pPr>
            <a:r>
              <a:rPr lang="en-US" sz="1400" b="1" dirty="0">
                <a:solidFill>
                  <a:srgbClr val="0D1B3E"/>
                </a:solidFill>
                <a:latin typeface="Calibri" pitchFamily="34" charset="0"/>
                <a:ea typeface="Calibri" pitchFamily="34" charset="-122"/>
                <a:cs typeface="Calibri" pitchFamily="34" charset="-120"/>
              </a:rPr>
              <a:t>Corpus Composition</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228600" y="1280160"/>
          <a:ext cx="4297680" cy="914400"/>
        </p:xfrm>
        <a:graphic>
          <a:graphicData uri="http://schemas.openxmlformats.org/drawingml/2006/table">
            <a:tbl>
              <a:tblPr/>
              <a:tblGrid>
                <a:gridCol w="1097280"/>
                <a:gridCol w="1554480"/>
                <a:gridCol w="822960"/>
                <a:gridCol w="82296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Domain</a:t>
                      </a:r>
                      <a:endParaRPr lang="en-US" sz="13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0D1B3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Source</a:t>
                      </a:r>
                      <a:endParaRPr lang="en-US" sz="13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0D1B3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Samples</a:t>
                      </a:r>
                      <a:endParaRPr lang="en-US" sz="13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0D1B3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Label</a:t>
                      </a:r>
                      <a:endParaRPr lang="en-US" sz="13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0D1B3E"/>
                    </a:solidFill>
                  </a:tcPr>
                </a:tc>
              </a:tr>
              <a:tr h="384048">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News</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Wikinews (HI)</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~168</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384048">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Educational</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Wikibooks (HI)</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~168</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384048">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Travel</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Wikivoyage (HI)</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~168</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384048">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TOTAL</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0F4F8"/>
                    </a:solidFill>
                  </a:tcPr>
                </a:tc>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0F4F8"/>
                    </a:solidFill>
                  </a:tcPr>
                </a:tc>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504</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0F4F8"/>
                    </a:solidFill>
                  </a:tcPr>
                </a:tc>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3 classes</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0F4F8"/>
                    </a:solidFill>
                  </a:tcPr>
                </a:tc>
              </a:tr>
            </a:tbl>
          </a:graphicData>
        </a:graphic>
      </p:graphicFrame>
      <p:sp>
        <p:nvSpPr>
          <p:cNvPr id="7" name="Text 4"/>
          <p:cNvSpPr/>
          <p:nvPr/>
        </p:nvSpPr>
        <p:spPr>
          <a:xfrm>
            <a:off x="4846320" y="914400"/>
            <a:ext cx="4023360" cy="320040"/>
          </a:xfrm>
          <a:prstGeom prst="rect">
            <a:avLst/>
          </a:prstGeom>
          <a:noFill/>
          <a:ln/>
        </p:spPr>
        <p:txBody>
          <a:bodyPr wrap="square" rtlCol="0" anchor="ctr"/>
          <a:lstStyle/>
          <a:p>
            <a:pPr indent="0" marL="0">
              <a:buNone/>
            </a:pPr>
            <a:r>
              <a:rPr lang="en-US" sz="1400" b="1" dirty="0">
                <a:solidFill>
                  <a:srgbClr val="0E7C7B"/>
                </a:solidFill>
                <a:latin typeface="Calibri" pitchFamily="34" charset="0"/>
                <a:ea typeface="Calibri" pitchFamily="34" charset="-122"/>
                <a:cs typeface="Calibri" pitchFamily="34" charset="-120"/>
              </a:rPr>
              <a:t>Preprocessing Steps</a:t>
            </a:r>
            <a:endParaRPr lang="en-US" sz="1400" dirty="0"/>
          </a:p>
        </p:txBody>
      </p:sp>
      <p:sp>
        <p:nvSpPr>
          <p:cNvPr id="8" name="Shape 5"/>
          <p:cNvSpPr/>
          <p:nvPr/>
        </p:nvSpPr>
        <p:spPr>
          <a:xfrm>
            <a:off x="4846320" y="1234440"/>
            <a:ext cx="411480" cy="411480"/>
          </a:xfrm>
          <a:prstGeom prst="rect">
            <a:avLst/>
          </a:prstGeom>
          <a:solidFill>
            <a:srgbClr val="0E7C7B"/>
          </a:solidFill>
          <a:ln w="12700">
            <a:solidFill>
              <a:srgbClr val="0E7C7B"/>
            </a:solidFill>
            <a:prstDash val="solid"/>
          </a:ln>
        </p:spPr>
      </p:sp>
      <p:sp>
        <p:nvSpPr>
          <p:cNvPr id="9" name="Text 6"/>
          <p:cNvSpPr/>
          <p:nvPr/>
        </p:nvSpPr>
        <p:spPr>
          <a:xfrm>
            <a:off x="4846320" y="123444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10" name="Text 7"/>
          <p:cNvSpPr/>
          <p:nvPr/>
        </p:nvSpPr>
        <p:spPr>
          <a:xfrm>
            <a:off x="5349240" y="1234440"/>
            <a:ext cx="3566160" cy="201168"/>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Tokenisation</a:t>
            </a:r>
            <a:endParaRPr lang="en-US" sz="1300" dirty="0"/>
          </a:p>
        </p:txBody>
      </p:sp>
      <p:sp>
        <p:nvSpPr>
          <p:cNvPr id="11" name="Text 8"/>
          <p:cNvSpPr/>
          <p:nvPr/>
        </p:nvSpPr>
        <p:spPr>
          <a:xfrm>
            <a:off x="5349240" y="1435608"/>
            <a:ext cx="3566160" cy="5486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Unicode normalisation (NFC); Devanagari-aware byte-pair encoding via model tokeniser</a:t>
            </a:r>
            <a:endParaRPr lang="en-US" sz="1100" dirty="0"/>
          </a:p>
        </p:txBody>
      </p:sp>
      <p:sp>
        <p:nvSpPr>
          <p:cNvPr id="12" name="Shape 9"/>
          <p:cNvSpPr/>
          <p:nvPr/>
        </p:nvSpPr>
        <p:spPr>
          <a:xfrm>
            <a:off x="4846320" y="2103120"/>
            <a:ext cx="411480" cy="411480"/>
          </a:xfrm>
          <a:prstGeom prst="rect">
            <a:avLst/>
          </a:prstGeom>
          <a:solidFill>
            <a:srgbClr val="0E7C7B"/>
          </a:solidFill>
          <a:ln w="12700">
            <a:solidFill>
              <a:srgbClr val="0E7C7B"/>
            </a:solidFill>
            <a:prstDash val="solid"/>
          </a:ln>
        </p:spPr>
      </p:sp>
      <p:sp>
        <p:nvSpPr>
          <p:cNvPr id="13" name="Text 10"/>
          <p:cNvSpPr/>
          <p:nvPr/>
        </p:nvSpPr>
        <p:spPr>
          <a:xfrm>
            <a:off x="4846320" y="210312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4" name="Text 11"/>
          <p:cNvSpPr/>
          <p:nvPr/>
        </p:nvSpPr>
        <p:spPr>
          <a:xfrm>
            <a:off x="5349240" y="2103120"/>
            <a:ext cx="3566160" cy="201168"/>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Sequence Truncation</a:t>
            </a:r>
            <a:endParaRPr lang="en-US" sz="1300" dirty="0"/>
          </a:p>
        </p:txBody>
      </p:sp>
      <p:sp>
        <p:nvSpPr>
          <p:cNvPr id="15" name="Text 12"/>
          <p:cNvSpPr/>
          <p:nvPr/>
        </p:nvSpPr>
        <p:spPr>
          <a:xfrm>
            <a:off x="5349240" y="2304288"/>
            <a:ext cx="3566160" cy="5486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Max 256 tokens with stride; preserves sentence boundaries</a:t>
            </a:r>
            <a:endParaRPr lang="en-US" sz="1100" dirty="0"/>
          </a:p>
        </p:txBody>
      </p:sp>
      <p:sp>
        <p:nvSpPr>
          <p:cNvPr id="16" name="Shape 13"/>
          <p:cNvSpPr/>
          <p:nvPr/>
        </p:nvSpPr>
        <p:spPr>
          <a:xfrm>
            <a:off x="4846320" y="2971800"/>
            <a:ext cx="411480" cy="411480"/>
          </a:xfrm>
          <a:prstGeom prst="rect">
            <a:avLst/>
          </a:prstGeom>
          <a:solidFill>
            <a:srgbClr val="0E7C7B"/>
          </a:solidFill>
          <a:ln w="12700">
            <a:solidFill>
              <a:srgbClr val="0E7C7B"/>
            </a:solidFill>
            <a:prstDash val="solid"/>
          </a:ln>
        </p:spPr>
      </p:sp>
      <p:sp>
        <p:nvSpPr>
          <p:cNvPr id="17" name="Text 14"/>
          <p:cNvSpPr/>
          <p:nvPr/>
        </p:nvSpPr>
        <p:spPr>
          <a:xfrm>
            <a:off x="4846320" y="297180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8" name="Text 15"/>
          <p:cNvSpPr/>
          <p:nvPr/>
        </p:nvSpPr>
        <p:spPr>
          <a:xfrm>
            <a:off x="5349240" y="2971800"/>
            <a:ext cx="3566160" cy="201168"/>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Train / Val / Test Split</a:t>
            </a:r>
            <a:endParaRPr lang="en-US" sz="1300" dirty="0"/>
          </a:p>
        </p:txBody>
      </p:sp>
      <p:sp>
        <p:nvSpPr>
          <p:cNvPr id="19" name="Text 16"/>
          <p:cNvSpPr/>
          <p:nvPr/>
        </p:nvSpPr>
        <p:spPr>
          <a:xfrm>
            <a:off x="5349240" y="3172968"/>
            <a:ext cx="3566160" cy="5486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70 / 15 / 15 stratified split to maintain class balance</a:t>
            </a:r>
            <a:endParaRPr lang="en-US" sz="1100" dirty="0"/>
          </a:p>
        </p:txBody>
      </p:sp>
      <p:sp>
        <p:nvSpPr>
          <p:cNvPr id="20" name="Shape 17"/>
          <p:cNvSpPr/>
          <p:nvPr/>
        </p:nvSpPr>
        <p:spPr>
          <a:xfrm>
            <a:off x="4846320" y="3840480"/>
            <a:ext cx="411480" cy="411480"/>
          </a:xfrm>
          <a:prstGeom prst="rect">
            <a:avLst/>
          </a:prstGeom>
          <a:solidFill>
            <a:srgbClr val="0E7C7B"/>
          </a:solidFill>
          <a:ln w="12700">
            <a:solidFill>
              <a:srgbClr val="0E7C7B"/>
            </a:solidFill>
            <a:prstDash val="solid"/>
          </a:ln>
        </p:spPr>
      </p:sp>
      <p:sp>
        <p:nvSpPr>
          <p:cNvPr id="21" name="Text 18"/>
          <p:cNvSpPr/>
          <p:nvPr/>
        </p:nvSpPr>
        <p:spPr>
          <a:xfrm>
            <a:off x="4846320" y="384048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22" name="Text 19"/>
          <p:cNvSpPr/>
          <p:nvPr/>
        </p:nvSpPr>
        <p:spPr>
          <a:xfrm>
            <a:off x="5349240" y="3840480"/>
            <a:ext cx="3566160" cy="201168"/>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Label Encoding</a:t>
            </a:r>
            <a:endParaRPr lang="en-US" sz="1300" dirty="0"/>
          </a:p>
        </p:txBody>
      </p:sp>
      <p:sp>
        <p:nvSpPr>
          <p:cNvPr id="23" name="Text 20"/>
          <p:cNvSpPr/>
          <p:nvPr/>
        </p:nvSpPr>
        <p:spPr>
          <a:xfrm>
            <a:off x="5349240" y="4041648"/>
            <a:ext cx="3566160" cy="5486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Integer labels 0, 1, 2 with label smoothing ε = 0.1 applied at loss layer</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7C7B"/>
          </a:solidFill>
          <a:ln w="12700">
            <a:solidFill>
              <a:srgbClr val="0E7C7B"/>
            </a:solidFill>
            <a:prstDash val="solid"/>
          </a:ln>
        </p:spPr>
      </p:sp>
      <p:sp>
        <p:nvSpPr>
          <p:cNvPr id="3" name="Text 1"/>
          <p:cNvSpPr/>
          <p:nvPr/>
        </p:nvSpPr>
        <p:spPr>
          <a:xfrm>
            <a:off x="228600" y="256032"/>
            <a:ext cx="8686800" cy="502920"/>
          </a:xfrm>
          <a:prstGeom prst="rect">
            <a:avLst/>
          </a:prstGeom>
          <a:noFill/>
          <a:ln/>
        </p:spPr>
        <p:txBody>
          <a:bodyPr wrap="square" lIns="0" tIns="0" rIns="0" bIns="0" rtlCol="0" anchor="ctr"/>
          <a:lstStyle/>
          <a:p>
            <a:pPr indent="0" marL="0">
              <a:buNone/>
            </a:pPr>
            <a:r>
              <a:rPr lang="en-US" sz="2600" b="1" dirty="0">
                <a:solidFill>
                  <a:srgbClr val="0D1B3E"/>
                </a:solidFill>
                <a:latin typeface="Calibri" pitchFamily="34" charset="0"/>
                <a:ea typeface="Calibri" pitchFamily="34" charset="-122"/>
                <a:cs typeface="Calibri" pitchFamily="34" charset="-120"/>
              </a:rPr>
              <a:t>Model Architecture &amp; Technology Stack</a:t>
            </a:r>
            <a:endParaRPr lang="en-US" sz="2600" dirty="0"/>
          </a:p>
        </p:txBody>
      </p:sp>
      <p:sp>
        <p:nvSpPr>
          <p:cNvPr id="4" name="Shape 2"/>
          <p:cNvSpPr/>
          <p:nvPr/>
        </p:nvSpPr>
        <p:spPr>
          <a:xfrm>
            <a:off x="228600" y="795528"/>
            <a:ext cx="8686800" cy="27432"/>
          </a:xfrm>
          <a:prstGeom prst="rect">
            <a:avLst/>
          </a:prstGeom>
          <a:solidFill>
            <a:srgbClr val="14A5A3"/>
          </a:solidFill>
          <a:ln w="12700">
            <a:solidFill>
              <a:srgbClr val="14A5A3"/>
            </a:solidFill>
            <a:prstDash val="solid"/>
          </a:ln>
        </p:spPr>
      </p:sp>
      <p:sp>
        <p:nvSpPr>
          <p:cNvPr id="5" name="Shape 3"/>
          <p:cNvSpPr/>
          <p:nvPr/>
        </p:nvSpPr>
        <p:spPr>
          <a:xfrm>
            <a:off x="228600" y="914400"/>
            <a:ext cx="4114800" cy="3840480"/>
          </a:xfrm>
          <a:prstGeom prst="rect">
            <a:avLst/>
          </a:prstGeom>
          <a:solidFill>
            <a:srgbClr val="0D1B3E"/>
          </a:solidFill>
          <a:ln w="12700">
            <a:solidFill>
              <a:srgbClr val="0D1B3E"/>
            </a:solidFill>
            <a:prstDash val="solid"/>
          </a:ln>
          <a:effectLst>
            <a:outerShdw sx="100000" sy="100000" kx="0" ky="0" algn="bl" rotWithShape="0" blurRad="76200" dist="38100" dir="8100000">
              <a:srgbClr val="000000">
                <a:alpha val="20000"/>
              </a:srgbClr>
            </a:outerShdw>
          </a:effectLst>
        </p:spPr>
      </p:sp>
      <p:sp>
        <p:nvSpPr>
          <p:cNvPr id="6" name="Text 4"/>
          <p:cNvSpPr/>
          <p:nvPr/>
        </p:nvSpPr>
        <p:spPr>
          <a:xfrm>
            <a:off x="365760" y="1005840"/>
            <a:ext cx="3840480" cy="365760"/>
          </a:xfrm>
          <a:prstGeom prst="rect">
            <a:avLst/>
          </a:prstGeom>
          <a:noFill/>
          <a:ln/>
        </p:spPr>
        <p:txBody>
          <a:bodyPr wrap="square" rtlCol="0" anchor="ctr"/>
          <a:lstStyle/>
          <a:p>
            <a:pPr indent="0" marL="0">
              <a:buNone/>
            </a:pPr>
            <a:r>
              <a:rPr lang="en-US" sz="1400" b="1" dirty="0">
                <a:solidFill>
                  <a:srgbClr val="E8A838"/>
                </a:solidFill>
                <a:latin typeface="Calibri" pitchFamily="34" charset="0"/>
                <a:ea typeface="Calibri" pitchFamily="34" charset="-122"/>
                <a:cs typeface="Calibri" pitchFamily="34" charset="-120"/>
              </a:rPr>
              <a:t>NLLB-200  |  600M params</a:t>
            </a:r>
            <a:endParaRPr lang="en-US" sz="1400" dirty="0"/>
          </a:p>
        </p:txBody>
      </p:sp>
      <p:sp>
        <p:nvSpPr>
          <p:cNvPr id="7" name="Text 5"/>
          <p:cNvSpPr/>
          <p:nvPr/>
        </p:nvSpPr>
        <p:spPr>
          <a:xfrm>
            <a:off x="365760" y="1417320"/>
            <a:ext cx="3840480" cy="3200400"/>
          </a:xfrm>
          <a:prstGeom prst="rect">
            <a:avLst/>
          </a:prstGeom>
          <a:noFill/>
          <a:ln/>
        </p:spPr>
        <p:txBody>
          <a:bodyPr wrap="square" rtlCol="0" anchor="t"/>
          <a:lstStyle/>
          <a:p>
            <a:pPr marL="342900" indent="-342900">
              <a:buSzPct val="100000"/>
              <a:buChar char="•"/>
            </a:pPr>
            <a:r>
              <a:rPr lang="en-US" sz="1200" dirty="0">
                <a:solidFill>
                  <a:srgbClr val="F0F4F8"/>
                </a:solidFill>
                <a:latin typeface="Calibri" pitchFamily="34" charset="0"/>
                <a:ea typeface="Calibri" pitchFamily="34" charset="-122"/>
                <a:cs typeface="Calibri" pitchFamily="34" charset="-120"/>
              </a:rPr>
              <a:t>Architecture: Encoder-Decoder Transformer (FLORES-200 training)</a:t>
            </a:r>
            <a:endParaRPr lang="en-US" sz="1200" dirty="0"/>
          </a:p>
          <a:p>
            <a:pPr marL="342900" indent="-342900">
              <a:buSzPct val="100000"/>
              <a:buChar char="•"/>
            </a:pPr>
            <a:r>
              <a:rPr lang="en-US" sz="1200" dirty="0">
                <a:solidFill>
                  <a:srgbClr val="F0F4F8"/>
                </a:solidFill>
                <a:latin typeface="Calibri" pitchFamily="34" charset="0"/>
                <a:ea typeface="Calibri" pitchFamily="34" charset="-122"/>
                <a:cs typeface="Calibri" pitchFamily="34" charset="-120"/>
              </a:rPr>
              <a:t>200+ language shared embedding space enables zero-shot transfer</a:t>
            </a:r>
            <a:endParaRPr lang="en-US" sz="1200" dirty="0"/>
          </a:p>
          <a:p>
            <a:pPr marL="342900" indent="-342900">
              <a:buSzPct val="100000"/>
              <a:buChar char="•"/>
            </a:pPr>
            <a:r>
              <a:rPr lang="en-US" sz="1200" dirty="0">
                <a:solidFill>
                  <a:srgbClr val="F0F4F8"/>
                </a:solidFill>
                <a:latin typeface="Calibri" pitchFamily="34" charset="0"/>
                <a:ea typeface="Calibri" pitchFamily="34" charset="-122"/>
                <a:cs typeface="Calibri" pitchFamily="34" charset="-120"/>
              </a:rPr>
              <a:t>Mean Pooling over encoder hidden states → classification head</a:t>
            </a:r>
            <a:endParaRPr lang="en-US" sz="1200" dirty="0"/>
          </a:p>
          <a:p>
            <a:pPr marL="342900" indent="-342900">
              <a:buSzPct val="100000"/>
              <a:buChar char="•"/>
            </a:pPr>
            <a:r>
              <a:rPr lang="en-US" sz="1200" dirty="0">
                <a:solidFill>
                  <a:srgbClr val="F0F4F8"/>
                </a:solidFill>
                <a:latin typeface="Calibri" pitchFamily="34" charset="0"/>
                <a:ea typeface="Calibri" pitchFamily="34" charset="-122"/>
                <a:cs typeface="Calibri" pitchFamily="34" charset="-120"/>
              </a:rPr>
              <a:t>QLoRA (4-bit bitsandbytes) — reduces GPU VRAM by ~75%</a:t>
            </a:r>
            <a:endParaRPr lang="en-US" sz="1200" dirty="0"/>
          </a:p>
          <a:p>
            <a:pPr marL="342900" indent="-342900">
              <a:buSzPct val="100000"/>
              <a:buChar char="•"/>
            </a:pPr>
            <a:r>
              <a:rPr lang="en-US" sz="1200" dirty="0">
                <a:solidFill>
                  <a:srgbClr val="F0F4F8"/>
                </a:solidFill>
                <a:latin typeface="Calibri" pitchFamily="34" charset="0"/>
                <a:ea typeface="Calibri" pitchFamily="34" charset="-122"/>
                <a:cs typeface="Calibri" pitchFamily="34" charset="-120"/>
              </a:rPr>
              <a:t>PEFT LoRA adapters: rank r = 64, α = 128</a:t>
            </a:r>
            <a:endParaRPr lang="en-US" sz="1200" dirty="0"/>
          </a:p>
        </p:txBody>
      </p:sp>
      <p:sp>
        <p:nvSpPr>
          <p:cNvPr id="8" name="Shape 6"/>
          <p:cNvSpPr/>
          <p:nvPr/>
        </p:nvSpPr>
        <p:spPr>
          <a:xfrm>
            <a:off x="4617720" y="914400"/>
            <a:ext cx="4297680" cy="3840480"/>
          </a:xfrm>
          <a:prstGeom prst="rect">
            <a:avLst/>
          </a:prstGeom>
          <a:solidFill>
            <a:srgbClr val="F0F4F8"/>
          </a:solidFill>
          <a:ln w="12700">
            <a:solidFill>
              <a:srgbClr val="E2E8F0"/>
            </a:solidFill>
            <a:prstDash val="solid"/>
          </a:ln>
          <a:effectLst>
            <a:outerShdw sx="100000" sy="100000" kx="0" ky="0" algn="bl" rotWithShape="0" blurRad="76200" dist="38100" dir="8100000">
              <a:srgbClr val="000000">
                <a:alpha val="10000"/>
              </a:srgbClr>
            </a:outerShdw>
          </a:effectLst>
        </p:spPr>
      </p:sp>
      <p:sp>
        <p:nvSpPr>
          <p:cNvPr id="9" name="Text 7"/>
          <p:cNvSpPr/>
          <p:nvPr/>
        </p:nvSpPr>
        <p:spPr>
          <a:xfrm>
            <a:off x="4754880" y="1005840"/>
            <a:ext cx="4023360" cy="365760"/>
          </a:xfrm>
          <a:prstGeom prst="rect">
            <a:avLst/>
          </a:prstGeom>
          <a:noFill/>
          <a:ln/>
        </p:spPr>
        <p:txBody>
          <a:bodyPr wrap="square" rtlCol="0" anchor="ctr"/>
          <a:lstStyle/>
          <a:p>
            <a:pPr indent="0" marL="0">
              <a:buNone/>
            </a:pPr>
            <a:r>
              <a:rPr lang="en-US" sz="1400" b="1" dirty="0">
                <a:solidFill>
                  <a:srgbClr val="0E7C7B"/>
                </a:solidFill>
                <a:latin typeface="Calibri" pitchFamily="34" charset="0"/>
                <a:ea typeface="Calibri" pitchFamily="34" charset="-122"/>
                <a:cs typeface="Calibri" pitchFamily="34" charset="-120"/>
              </a:rPr>
              <a:t>XLM-RoBERTa-Large  |  550M params</a:t>
            </a:r>
            <a:endParaRPr lang="en-US" sz="1400" dirty="0"/>
          </a:p>
        </p:txBody>
      </p:sp>
      <p:sp>
        <p:nvSpPr>
          <p:cNvPr id="10" name="Text 8"/>
          <p:cNvSpPr/>
          <p:nvPr/>
        </p:nvSpPr>
        <p:spPr>
          <a:xfrm>
            <a:off x="4754880" y="1417320"/>
            <a:ext cx="4023360" cy="3200400"/>
          </a:xfrm>
          <a:prstGeom prst="rect">
            <a:avLst/>
          </a:prstGeom>
          <a:noFill/>
          <a:ln/>
        </p:spPr>
        <p:txBody>
          <a:bodyPr wrap="square" rtlCol="0" anchor="t"/>
          <a:lstStyle/>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Architecture: Encoder-only Transformer (CommonCrawl-100 training)</a:t>
            </a:r>
            <a:endParaRPr lang="en-US" sz="1200" dirty="0"/>
          </a:p>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100-language SentencePiece vocabulary — strong Hindi coverage</a:t>
            </a:r>
            <a:endParaRPr lang="en-US" sz="1200" dirty="0"/>
          </a:p>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[CLS] token representation → classification head</a:t>
            </a:r>
            <a:endParaRPr lang="en-US" sz="1200" dirty="0"/>
          </a:p>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QLoRA (4-bit bitsandbytes) applied identically</a:t>
            </a:r>
            <a:endParaRPr lang="en-US" sz="1200" dirty="0"/>
          </a:p>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PEFT LoRA adapters: rank r = 64, α = 128</a:t>
            </a:r>
            <a:endParaRPr lang="en-US" sz="1200" dirty="0"/>
          </a:p>
        </p:txBody>
      </p:sp>
      <p:sp>
        <p:nvSpPr>
          <p:cNvPr id="11" name="Shape 9"/>
          <p:cNvSpPr/>
          <p:nvPr/>
        </p:nvSpPr>
        <p:spPr>
          <a:xfrm>
            <a:off x="228600" y="4828032"/>
            <a:ext cx="8686800" cy="256032"/>
          </a:xfrm>
          <a:prstGeom prst="rect">
            <a:avLst/>
          </a:prstGeom>
          <a:solidFill>
            <a:srgbClr val="0E7C7B"/>
          </a:solidFill>
          <a:ln w="12700">
            <a:solidFill>
              <a:srgbClr val="0E7C7B"/>
            </a:solidFill>
            <a:prstDash val="solid"/>
          </a:ln>
        </p:spPr>
      </p:sp>
      <p:sp>
        <p:nvSpPr>
          <p:cNvPr id="12" name="Text 10"/>
          <p:cNvSpPr/>
          <p:nvPr/>
        </p:nvSpPr>
        <p:spPr>
          <a:xfrm>
            <a:off x="228600" y="4828032"/>
            <a:ext cx="8686800" cy="25603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Shared: Cross-Entropy Loss + Label Smoothing (ε=0.1)  |  AdamW Optimiser  |  HuggingFace Transformers  |  PyTorch</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7C7B"/>
          </a:solidFill>
          <a:ln w="12700">
            <a:solidFill>
              <a:srgbClr val="0E7C7B"/>
            </a:solidFill>
            <a:prstDash val="solid"/>
          </a:ln>
        </p:spPr>
      </p:sp>
      <p:sp>
        <p:nvSpPr>
          <p:cNvPr id="3" name="Text 1"/>
          <p:cNvSpPr/>
          <p:nvPr/>
        </p:nvSpPr>
        <p:spPr>
          <a:xfrm>
            <a:off x="228600" y="256032"/>
            <a:ext cx="8686800" cy="502920"/>
          </a:xfrm>
          <a:prstGeom prst="rect">
            <a:avLst/>
          </a:prstGeom>
          <a:noFill/>
          <a:ln/>
        </p:spPr>
        <p:txBody>
          <a:bodyPr wrap="square" lIns="0" tIns="0" rIns="0" bIns="0" rtlCol="0" anchor="ctr"/>
          <a:lstStyle/>
          <a:p>
            <a:pPr indent="0" marL="0">
              <a:buNone/>
            </a:pPr>
            <a:r>
              <a:rPr lang="en-US" sz="2600" b="1" dirty="0">
                <a:solidFill>
                  <a:srgbClr val="0D1B3E"/>
                </a:solidFill>
                <a:latin typeface="Calibri" pitchFamily="34" charset="0"/>
                <a:ea typeface="Calibri" pitchFamily="34" charset="-122"/>
                <a:cs typeface="Calibri" pitchFamily="34" charset="-120"/>
              </a:rPr>
              <a:t>Training Methodology &amp; Hyperparameter Configuration</a:t>
            </a:r>
            <a:endParaRPr lang="en-US" sz="2600" dirty="0"/>
          </a:p>
        </p:txBody>
      </p:sp>
      <p:sp>
        <p:nvSpPr>
          <p:cNvPr id="4" name="Shape 2"/>
          <p:cNvSpPr/>
          <p:nvPr/>
        </p:nvSpPr>
        <p:spPr>
          <a:xfrm>
            <a:off x="228600" y="795528"/>
            <a:ext cx="8686800" cy="27432"/>
          </a:xfrm>
          <a:prstGeom prst="rect">
            <a:avLst/>
          </a:prstGeom>
          <a:solidFill>
            <a:srgbClr val="14A5A3"/>
          </a:solidFill>
          <a:ln w="12700">
            <a:solidFill>
              <a:srgbClr val="14A5A3"/>
            </a:solidFill>
            <a:prstDash val="solid"/>
          </a:ln>
        </p:spPr>
      </p:sp>
      <p:sp>
        <p:nvSpPr>
          <p:cNvPr id="5" name="Text 3"/>
          <p:cNvSpPr/>
          <p:nvPr/>
        </p:nvSpPr>
        <p:spPr>
          <a:xfrm>
            <a:off x="228600" y="914400"/>
            <a:ext cx="4297680" cy="320040"/>
          </a:xfrm>
          <a:prstGeom prst="rect">
            <a:avLst/>
          </a:prstGeom>
          <a:noFill/>
          <a:ln/>
        </p:spPr>
        <p:txBody>
          <a:bodyPr wrap="square" rtlCol="0" anchor="ctr"/>
          <a:lstStyle/>
          <a:p>
            <a:pPr indent="0" marL="0">
              <a:buNone/>
            </a:pPr>
            <a:r>
              <a:rPr lang="en-US" sz="1400" b="1" dirty="0">
                <a:solidFill>
                  <a:srgbClr val="0D1B3E"/>
                </a:solidFill>
                <a:latin typeface="Calibri" pitchFamily="34" charset="0"/>
                <a:ea typeface="Calibri" pitchFamily="34" charset="-122"/>
                <a:cs typeface="Calibri" pitchFamily="34" charset="-120"/>
              </a:rPr>
              <a:t>Hyperparameter Configuration</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228600" y="1280160"/>
          <a:ext cx="4297680" cy="914400"/>
        </p:xfrm>
        <a:graphic>
          <a:graphicData uri="http://schemas.openxmlformats.org/drawingml/2006/table">
            <a:tbl>
              <a:tblPr/>
              <a:tblGrid>
                <a:gridCol w="2377440"/>
                <a:gridCol w="1920240"/>
              </a:tblGrid>
              <a:tr h="34747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Parameter</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0D1B3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Value</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0D1B3E"/>
                    </a:solidFill>
                  </a:tcPr>
                </a:tc>
              </a:tr>
              <a:tr h="347472">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Learning Rate</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00" b="1" dirty="0">
                          <a:solidFill>
                            <a:srgbClr val="0E7C7B"/>
                          </a:solidFill>
                          <a:latin typeface="Calibri" pitchFamily="34" charset="0"/>
                          <a:ea typeface="Calibri" pitchFamily="34" charset="-122"/>
                          <a:cs typeface="Calibri" pitchFamily="34" charset="-120"/>
                        </a:rPr>
                        <a:t>5e-5 (stabilised)</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347472">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Warmup Ratio</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0F4F8"/>
                    </a:solidFill>
                  </a:tcPr>
                </a:tc>
                <a:tc>
                  <a:txBody>
                    <a:bodyPr/>
                    <a:lstStyle/>
                    <a:p>
                      <a:pPr indent="0" marL="0">
                        <a:buNone/>
                      </a:pPr>
                      <a:r>
                        <a:rPr lang="en-US" sz="1200" b="1" dirty="0">
                          <a:solidFill>
                            <a:srgbClr val="0E7C7B"/>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0F4F8"/>
                    </a:solidFill>
                  </a:tcPr>
                </a:tc>
              </a:tr>
              <a:tr h="347472">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Batch Size</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00" b="1" dirty="0">
                          <a:solidFill>
                            <a:srgbClr val="0E7C7B"/>
                          </a:solidFill>
                          <a:latin typeface="Calibri" pitchFamily="34" charset="0"/>
                          <a:ea typeface="Calibri" pitchFamily="34" charset="-122"/>
                          <a:cs typeface="Calibri" pitchFamily="34" charset="-120"/>
                        </a:rPr>
                        <a:t>16</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347472">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Max Epochs</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0F4F8"/>
                    </a:solidFill>
                  </a:tcPr>
                </a:tc>
                <a:tc>
                  <a:txBody>
                    <a:bodyPr/>
                    <a:lstStyle/>
                    <a:p>
                      <a:pPr indent="0" marL="0">
                        <a:buNone/>
                      </a:pPr>
                      <a:r>
                        <a:rPr lang="en-US" sz="1200" b="1" dirty="0">
                          <a:solidFill>
                            <a:srgbClr val="0E7C7B"/>
                          </a:solidFill>
                          <a:latin typeface="Calibri" pitchFamily="34" charset="0"/>
                          <a:ea typeface="Calibri" pitchFamily="34" charset="-122"/>
                          <a:cs typeface="Calibri" pitchFamily="34" charset="-120"/>
                        </a:rPr>
                        <a:t>30 (early stop)</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0F4F8"/>
                    </a:solidFill>
                  </a:tcPr>
                </a:tc>
              </a:tr>
              <a:tr h="347472">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LoRA Rank r</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00" b="1" dirty="0">
                          <a:solidFill>
                            <a:srgbClr val="0E7C7B"/>
                          </a:solidFill>
                          <a:latin typeface="Calibri" pitchFamily="34" charset="0"/>
                          <a:ea typeface="Calibri" pitchFamily="34" charset="-122"/>
                          <a:cs typeface="Calibri" pitchFamily="34" charset="-120"/>
                        </a:rPr>
                        <a:t>64</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347472">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LoRA Alpha α</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0F4F8"/>
                    </a:solidFill>
                  </a:tcPr>
                </a:tc>
                <a:tc>
                  <a:txBody>
                    <a:bodyPr/>
                    <a:lstStyle/>
                    <a:p>
                      <a:pPr indent="0" marL="0">
                        <a:buNone/>
                      </a:pPr>
                      <a:r>
                        <a:rPr lang="en-US" sz="1200" b="1" dirty="0">
                          <a:solidFill>
                            <a:srgbClr val="0E7C7B"/>
                          </a:solidFill>
                          <a:latin typeface="Calibri" pitchFamily="34" charset="0"/>
                          <a:ea typeface="Calibri" pitchFamily="34" charset="-122"/>
                          <a:cs typeface="Calibri" pitchFamily="34" charset="-120"/>
                        </a:rPr>
                        <a:t>128</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0F4F8"/>
                    </a:solidFill>
                  </a:tcPr>
                </a:tc>
              </a:tr>
              <a:tr h="347472">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Quantisation</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00" b="1" dirty="0">
                          <a:solidFill>
                            <a:srgbClr val="0E7C7B"/>
                          </a:solidFill>
                          <a:latin typeface="Calibri" pitchFamily="34" charset="0"/>
                          <a:ea typeface="Calibri" pitchFamily="34" charset="-122"/>
                          <a:cs typeface="Calibri" pitchFamily="34" charset="-120"/>
                        </a:rPr>
                        <a:t>4-bit (bitsandbytes)</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347472">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Label Smoothing</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0F4F8"/>
                    </a:solidFill>
                  </a:tcPr>
                </a:tc>
                <a:tc>
                  <a:txBody>
                    <a:bodyPr/>
                    <a:lstStyle/>
                    <a:p>
                      <a:pPr indent="0" marL="0">
                        <a:buNone/>
                      </a:pPr>
                      <a:r>
                        <a:rPr lang="en-US" sz="1200" b="1" dirty="0">
                          <a:solidFill>
                            <a:srgbClr val="0E7C7B"/>
                          </a:solidFill>
                          <a:latin typeface="Calibri" pitchFamily="34" charset="0"/>
                          <a:ea typeface="Calibri" pitchFamily="34" charset="-122"/>
                          <a:cs typeface="Calibri" pitchFamily="34" charset="-120"/>
                        </a:rPr>
                        <a:t>ε = 0.1</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0F4F8"/>
                    </a:solidFill>
                  </a:tcPr>
                </a:tc>
              </a:tr>
              <a:tr h="347472">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Early Stop Patience</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00" b="1" dirty="0">
                          <a:solidFill>
                            <a:srgbClr val="0E7C7B"/>
                          </a:solidFill>
                          <a:latin typeface="Calibri" pitchFamily="34" charset="0"/>
                          <a:ea typeface="Calibri" pitchFamily="34" charset="-122"/>
                          <a:cs typeface="Calibri" pitchFamily="34" charset="-120"/>
                        </a:rPr>
                        <a:t>3 epochs</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bl>
          </a:graphicData>
        </a:graphic>
      </p:graphicFrame>
      <p:sp>
        <p:nvSpPr>
          <p:cNvPr id="7" name="Text 4"/>
          <p:cNvSpPr/>
          <p:nvPr/>
        </p:nvSpPr>
        <p:spPr>
          <a:xfrm>
            <a:off x="4846320" y="914400"/>
            <a:ext cx="4023360" cy="320040"/>
          </a:xfrm>
          <a:prstGeom prst="rect">
            <a:avLst/>
          </a:prstGeom>
          <a:noFill/>
          <a:ln/>
        </p:spPr>
        <p:txBody>
          <a:bodyPr wrap="square" rtlCol="0" anchor="ctr"/>
          <a:lstStyle/>
          <a:p>
            <a:pPr indent="0" marL="0">
              <a:buNone/>
            </a:pPr>
            <a:r>
              <a:rPr lang="en-US" sz="1400" b="1" dirty="0">
                <a:solidFill>
                  <a:srgbClr val="0E7C7B"/>
                </a:solidFill>
                <a:latin typeface="Calibri" pitchFamily="34" charset="0"/>
                <a:ea typeface="Calibri" pitchFamily="34" charset="-122"/>
                <a:cs typeface="Calibri" pitchFamily="34" charset="-120"/>
              </a:rPr>
              <a:t>Training Protocol</a:t>
            </a:r>
            <a:endParaRPr lang="en-US" sz="1400" dirty="0"/>
          </a:p>
        </p:txBody>
      </p:sp>
      <p:sp>
        <p:nvSpPr>
          <p:cNvPr id="8" name="Shape 5"/>
          <p:cNvSpPr/>
          <p:nvPr/>
        </p:nvSpPr>
        <p:spPr>
          <a:xfrm>
            <a:off x="4846320" y="1261872"/>
            <a:ext cx="640080" cy="320040"/>
          </a:xfrm>
          <a:prstGeom prst="rect">
            <a:avLst/>
          </a:prstGeom>
          <a:solidFill>
            <a:srgbClr val="0E7C7B"/>
          </a:solidFill>
          <a:ln w="12700">
            <a:solidFill>
              <a:srgbClr val="0E7C7B"/>
            </a:solidFill>
            <a:prstDash val="solid"/>
          </a:ln>
        </p:spPr>
      </p:sp>
      <p:sp>
        <p:nvSpPr>
          <p:cNvPr id="9" name="Text 6"/>
          <p:cNvSpPr/>
          <p:nvPr/>
        </p:nvSpPr>
        <p:spPr>
          <a:xfrm>
            <a:off x="4846320" y="1261872"/>
            <a:ext cx="64008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Load</a:t>
            </a:r>
            <a:endParaRPr lang="en-US" sz="1000" dirty="0"/>
          </a:p>
        </p:txBody>
      </p:sp>
      <p:sp>
        <p:nvSpPr>
          <p:cNvPr id="10" name="Text 7"/>
          <p:cNvSpPr/>
          <p:nvPr/>
        </p:nvSpPr>
        <p:spPr>
          <a:xfrm>
            <a:off x="5577840" y="1261872"/>
            <a:ext cx="3337560" cy="32004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Quantise backbone to 4-bit NF4; attach LoRA adapter modules</a:t>
            </a:r>
            <a:endParaRPr lang="en-US" sz="1100" dirty="0"/>
          </a:p>
        </p:txBody>
      </p:sp>
      <p:sp>
        <p:nvSpPr>
          <p:cNvPr id="11" name="Shape 8"/>
          <p:cNvSpPr/>
          <p:nvPr/>
        </p:nvSpPr>
        <p:spPr>
          <a:xfrm>
            <a:off x="4846320" y="1883664"/>
            <a:ext cx="640080" cy="320040"/>
          </a:xfrm>
          <a:prstGeom prst="rect">
            <a:avLst/>
          </a:prstGeom>
          <a:solidFill>
            <a:srgbClr val="0E7C7B"/>
          </a:solidFill>
          <a:ln w="12700">
            <a:solidFill>
              <a:srgbClr val="0E7C7B"/>
            </a:solidFill>
            <a:prstDash val="solid"/>
          </a:ln>
        </p:spPr>
      </p:sp>
      <p:sp>
        <p:nvSpPr>
          <p:cNvPr id="12" name="Text 9"/>
          <p:cNvSpPr/>
          <p:nvPr/>
        </p:nvSpPr>
        <p:spPr>
          <a:xfrm>
            <a:off x="4846320" y="1883664"/>
            <a:ext cx="64008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Freeze</a:t>
            </a:r>
            <a:endParaRPr lang="en-US" sz="1000" dirty="0"/>
          </a:p>
        </p:txBody>
      </p:sp>
      <p:sp>
        <p:nvSpPr>
          <p:cNvPr id="13" name="Text 10"/>
          <p:cNvSpPr/>
          <p:nvPr/>
        </p:nvSpPr>
        <p:spPr>
          <a:xfrm>
            <a:off x="5577840" y="1883664"/>
            <a:ext cx="3337560" cy="32004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Freeze all base model weights; train only LoRA parameters</a:t>
            </a:r>
            <a:endParaRPr lang="en-US" sz="1100" dirty="0"/>
          </a:p>
        </p:txBody>
      </p:sp>
      <p:sp>
        <p:nvSpPr>
          <p:cNvPr id="14" name="Shape 11"/>
          <p:cNvSpPr/>
          <p:nvPr/>
        </p:nvSpPr>
        <p:spPr>
          <a:xfrm>
            <a:off x="4846320" y="2505456"/>
            <a:ext cx="640080" cy="320040"/>
          </a:xfrm>
          <a:prstGeom prst="rect">
            <a:avLst/>
          </a:prstGeom>
          <a:solidFill>
            <a:srgbClr val="0E7C7B"/>
          </a:solidFill>
          <a:ln w="12700">
            <a:solidFill>
              <a:srgbClr val="0E7C7B"/>
            </a:solidFill>
            <a:prstDash val="solid"/>
          </a:ln>
        </p:spPr>
      </p:sp>
      <p:sp>
        <p:nvSpPr>
          <p:cNvPr id="15" name="Text 12"/>
          <p:cNvSpPr/>
          <p:nvPr/>
        </p:nvSpPr>
        <p:spPr>
          <a:xfrm>
            <a:off x="4846320" y="2505456"/>
            <a:ext cx="64008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Warm Up</a:t>
            </a:r>
            <a:endParaRPr lang="en-US" sz="1000" dirty="0"/>
          </a:p>
        </p:txBody>
      </p:sp>
      <p:sp>
        <p:nvSpPr>
          <p:cNvPr id="16" name="Text 13"/>
          <p:cNvSpPr/>
          <p:nvPr/>
        </p:nvSpPr>
        <p:spPr>
          <a:xfrm>
            <a:off x="5577840" y="2505456"/>
            <a:ext cx="3337560" cy="32004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Linear LR warm-up over first 20% of steps to prevent early instability</a:t>
            </a:r>
            <a:endParaRPr lang="en-US" sz="1100" dirty="0"/>
          </a:p>
        </p:txBody>
      </p:sp>
      <p:sp>
        <p:nvSpPr>
          <p:cNvPr id="17" name="Shape 14"/>
          <p:cNvSpPr/>
          <p:nvPr/>
        </p:nvSpPr>
        <p:spPr>
          <a:xfrm>
            <a:off x="4846320" y="3127248"/>
            <a:ext cx="640080" cy="320040"/>
          </a:xfrm>
          <a:prstGeom prst="rect">
            <a:avLst/>
          </a:prstGeom>
          <a:solidFill>
            <a:srgbClr val="0D1B3E"/>
          </a:solidFill>
          <a:ln w="12700">
            <a:solidFill>
              <a:srgbClr val="0D1B3E"/>
            </a:solidFill>
            <a:prstDash val="solid"/>
          </a:ln>
        </p:spPr>
      </p:sp>
      <p:sp>
        <p:nvSpPr>
          <p:cNvPr id="18" name="Text 15"/>
          <p:cNvSpPr/>
          <p:nvPr/>
        </p:nvSpPr>
        <p:spPr>
          <a:xfrm>
            <a:off x="4846320" y="3127248"/>
            <a:ext cx="64008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Optimise</a:t>
            </a:r>
            <a:endParaRPr lang="en-US" sz="1000" dirty="0"/>
          </a:p>
        </p:txBody>
      </p:sp>
      <p:sp>
        <p:nvSpPr>
          <p:cNvPr id="19" name="Text 16"/>
          <p:cNvSpPr/>
          <p:nvPr/>
        </p:nvSpPr>
        <p:spPr>
          <a:xfrm>
            <a:off x="5577840" y="3127248"/>
            <a:ext cx="3337560" cy="32004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AdamW with weight decay 0.01; gradient clipping at 1.0</a:t>
            </a:r>
            <a:endParaRPr lang="en-US" sz="1100" dirty="0"/>
          </a:p>
        </p:txBody>
      </p:sp>
      <p:sp>
        <p:nvSpPr>
          <p:cNvPr id="20" name="Shape 17"/>
          <p:cNvSpPr/>
          <p:nvPr/>
        </p:nvSpPr>
        <p:spPr>
          <a:xfrm>
            <a:off x="4846320" y="3749040"/>
            <a:ext cx="640080" cy="320040"/>
          </a:xfrm>
          <a:prstGeom prst="rect">
            <a:avLst/>
          </a:prstGeom>
          <a:solidFill>
            <a:srgbClr val="0D1B3E"/>
          </a:solidFill>
          <a:ln w="12700">
            <a:solidFill>
              <a:srgbClr val="0D1B3E"/>
            </a:solidFill>
            <a:prstDash val="solid"/>
          </a:ln>
        </p:spPr>
      </p:sp>
      <p:sp>
        <p:nvSpPr>
          <p:cNvPr id="21" name="Text 18"/>
          <p:cNvSpPr/>
          <p:nvPr/>
        </p:nvSpPr>
        <p:spPr>
          <a:xfrm>
            <a:off x="4846320" y="3749040"/>
            <a:ext cx="64008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Monitor</a:t>
            </a:r>
            <a:endParaRPr lang="en-US" sz="1000" dirty="0"/>
          </a:p>
        </p:txBody>
      </p:sp>
      <p:sp>
        <p:nvSpPr>
          <p:cNvPr id="22" name="Text 19"/>
          <p:cNvSpPr/>
          <p:nvPr/>
        </p:nvSpPr>
        <p:spPr>
          <a:xfrm>
            <a:off x="5577840" y="3749040"/>
            <a:ext cx="3337560" cy="32004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Val accuracy &amp; loss after every epoch; save best checkpoint</a:t>
            </a:r>
            <a:endParaRPr lang="en-US" sz="1100" dirty="0"/>
          </a:p>
        </p:txBody>
      </p:sp>
      <p:sp>
        <p:nvSpPr>
          <p:cNvPr id="23" name="Shape 20"/>
          <p:cNvSpPr/>
          <p:nvPr/>
        </p:nvSpPr>
        <p:spPr>
          <a:xfrm>
            <a:off x="4846320" y="4370832"/>
            <a:ext cx="640080" cy="320040"/>
          </a:xfrm>
          <a:prstGeom prst="rect">
            <a:avLst/>
          </a:prstGeom>
          <a:solidFill>
            <a:srgbClr val="0D1B3E"/>
          </a:solidFill>
          <a:ln w="12700">
            <a:solidFill>
              <a:srgbClr val="0D1B3E"/>
            </a:solidFill>
            <a:prstDash val="solid"/>
          </a:ln>
        </p:spPr>
      </p:sp>
      <p:sp>
        <p:nvSpPr>
          <p:cNvPr id="24" name="Text 21"/>
          <p:cNvSpPr/>
          <p:nvPr/>
        </p:nvSpPr>
        <p:spPr>
          <a:xfrm>
            <a:off x="4846320" y="4370832"/>
            <a:ext cx="64008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Stop</a:t>
            </a:r>
            <a:endParaRPr lang="en-US" sz="1000" dirty="0"/>
          </a:p>
        </p:txBody>
      </p:sp>
      <p:sp>
        <p:nvSpPr>
          <p:cNvPr id="25" name="Text 22"/>
          <p:cNvSpPr/>
          <p:nvPr/>
        </p:nvSpPr>
        <p:spPr>
          <a:xfrm>
            <a:off x="5577840" y="4370832"/>
            <a:ext cx="3337560" cy="32004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Early stopping (patience = 3) to prevent over-fitting on 504 samples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7C7B"/>
          </a:solidFill>
          <a:ln w="12700">
            <a:solidFill>
              <a:srgbClr val="0E7C7B"/>
            </a:solidFill>
            <a:prstDash val="solid"/>
          </a:ln>
        </p:spPr>
      </p:sp>
      <p:sp>
        <p:nvSpPr>
          <p:cNvPr id="3" name="Text 1"/>
          <p:cNvSpPr/>
          <p:nvPr/>
        </p:nvSpPr>
        <p:spPr>
          <a:xfrm>
            <a:off x="228600" y="182880"/>
            <a:ext cx="8686800" cy="502920"/>
          </a:xfrm>
          <a:prstGeom prst="rect">
            <a:avLst/>
          </a:prstGeom>
          <a:noFill/>
          <a:ln/>
        </p:spPr>
        <p:txBody>
          <a:bodyPr wrap="square" lIns="0" tIns="0" rIns="0" bIns="0" rtlCol="0" anchor="ctr"/>
          <a:lstStyle/>
          <a:p>
            <a:pPr indent="0" marL="0">
              <a:buNone/>
            </a:pPr>
            <a:r>
              <a:rPr lang="en-US" sz="2400" b="1" dirty="0">
                <a:solidFill>
                  <a:srgbClr val="E8A838"/>
                </a:solidFill>
                <a:latin typeface="Calibri" pitchFamily="34" charset="0"/>
                <a:ea typeface="Calibri" pitchFamily="34" charset="-122"/>
                <a:cs typeface="Calibri" pitchFamily="34" charset="-120"/>
              </a:rPr>
              <a:t>⚠  Engineering Challenges &amp; Troubleshooting</a:t>
            </a:r>
            <a:endParaRPr lang="en-US" sz="2400" dirty="0"/>
          </a:p>
        </p:txBody>
      </p:sp>
      <p:sp>
        <p:nvSpPr>
          <p:cNvPr id="4" name="Shape 2"/>
          <p:cNvSpPr/>
          <p:nvPr/>
        </p:nvSpPr>
        <p:spPr>
          <a:xfrm>
            <a:off x="228600" y="731520"/>
            <a:ext cx="8686800" cy="27432"/>
          </a:xfrm>
          <a:prstGeom prst="rect">
            <a:avLst/>
          </a:prstGeom>
          <a:solidFill>
            <a:srgbClr val="0E7C7B"/>
          </a:solidFill>
          <a:ln w="12700">
            <a:solidFill>
              <a:srgbClr val="0E7C7B"/>
            </a:solidFill>
            <a:prstDash val="solid"/>
          </a:ln>
        </p:spPr>
      </p:sp>
      <p:sp>
        <p:nvSpPr>
          <p:cNvPr id="5" name="Text 3"/>
          <p:cNvSpPr/>
          <p:nvPr/>
        </p:nvSpPr>
        <p:spPr>
          <a:xfrm>
            <a:off x="228600" y="804672"/>
            <a:ext cx="8686800" cy="320040"/>
          </a:xfrm>
          <a:prstGeom prst="rect">
            <a:avLst/>
          </a:prstGeom>
          <a:noFill/>
          <a:ln/>
        </p:spPr>
        <p:txBody>
          <a:bodyPr wrap="square" lIns="0" tIns="0" rIns="0" bIns="0" rtlCol="0" anchor="ctr"/>
          <a:lstStyle/>
          <a:p>
            <a:pPr indent="0" marL="0">
              <a:buNone/>
            </a:pPr>
            <a:r>
              <a:rPr lang="en-US" sz="1400" i="1" dirty="0">
                <a:solidFill>
                  <a:srgbClr val="14A5A3"/>
                </a:solidFill>
                <a:latin typeface="Calibri" pitchFamily="34" charset="0"/>
                <a:ea typeface="Calibri" pitchFamily="34" charset="-122"/>
                <a:cs typeface="Calibri" pitchFamily="34" charset="-120"/>
              </a:rPr>
              <a:t>Case Study: Gradient Instability &amp; Model Collapse in XLM-RoBERTa-Large</a:t>
            </a:r>
            <a:endParaRPr lang="en-US" sz="1400" dirty="0"/>
          </a:p>
        </p:txBody>
      </p:sp>
      <p:sp>
        <p:nvSpPr>
          <p:cNvPr id="6" name="Shape 4"/>
          <p:cNvSpPr/>
          <p:nvPr/>
        </p:nvSpPr>
        <p:spPr>
          <a:xfrm>
            <a:off x="228600" y="1207008"/>
            <a:ext cx="2834640" cy="384048"/>
          </a:xfrm>
          <a:prstGeom prst="rect">
            <a:avLst/>
          </a:prstGeom>
          <a:solidFill>
            <a:srgbClr val="DC2626"/>
          </a:solidFill>
          <a:ln w="12700">
            <a:solidFill>
              <a:srgbClr val="DC2626"/>
            </a:solidFill>
            <a:prstDash val="solid"/>
          </a:ln>
        </p:spPr>
      </p:sp>
      <p:sp>
        <p:nvSpPr>
          <p:cNvPr id="7" name="Text 5"/>
          <p:cNvSpPr/>
          <p:nvPr/>
        </p:nvSpPr>
        <p:spPr>
          <a:xfrm>
            <a:off x="228600" y="1207008"/>
            <a:ext cx="283464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THE PROBLEM</a:t>
            </a:r>
            <a:endParaRPr lang="en-US" sz="1300" dirty="0"/>
          </a:p>
        </p:txBody>
      </p:sp>
      <p:sp>
        <p:nvSpPr>
          <p:cNvPr id="8" name="Shape 6"/>
          <p:cNvSpPr/>
          <p:nvPr/>
        </p:nvSpPr>
        <p:spPr>
          <a:xfrm>
            <a:off x="228600" y="1591056"/>
            <a:ext cx="2834640" cy="3200400"/>
          </a:xfrm>
          <a:prstGeom prst="rect">
            <a:avLst/>
          </a:prstGeom>
          <a:solidFill>
            <a:srgbClr val="1A2E4A"/>
          </a:solidFill>
          <a:ln w="12700">
            <a:solidFill>
              <a:srgbClr val="DC2626"/>
            </a:solidFill>
            <a:prstDash val="solid"/>
          </a:ln>
        </p:spPr>
      </p:sp>
      <p:sp>
        <p:nvSpPr>
          <p:cNvPr id="9" name="Text 7"/>
          <p:cNvSpPr/>
          <p:nvPr/>
        </p:nvSpPr>
        <p:spPr>
          <a:xfrm>
            <a:off x="320040" y="1664208"/>
            <a:ext cx="2651760" cy="3017520"/>
          </a:xfrm>
          <a:prstGeom prst="rect">
            <a:avLst/>
          </a:prstGeom>
          <a:noFill/>
          <a:ln/>
        </p:spPr>
        <p:txBody>
          <a:bodyPr wrap="square" rtlCol="0" anchor="t"/>
          <a:lstStyle/>
          <a:p>
            <a:pPr marL="342900" indent="-342900">
              <a:buSzPct val="100000"/>
              <a:buChar char="•"/>
            </a:pPr>
            <a:r>
              <a:rPr lang="en-US" sz="1200" dirty="0">
                <a:solidFill>
                  <a:srgbClr val="F0F4F8"/>
                </a:solidFill>
                <a:latin typeface="Calibri" pitchFamily="34" charset="0"/>
                <a:ea typeface="Calibri" pitchFamily="34" charset="-122"/>
                <a:cs typeface="Calibri" pitchFamily="34" charset="-120"/>
              </a:rPr>
              <a:t>Training accuracy collapsed to 33.7% — exactly random-chance for 3 classes</a:t>
            </a:r>
            <a:endParaRPr lang="en-US" sz="1200" dirty="0"/>
          </a:p>
          <a:p>
            <a:pPr marL="342900" indent="-342900">
              <a:buSzPct val="100000"/>
              <a:buChar char="•"/>
            </a:pPr>
            <a:r>
              <a:rPr lang="en-US" sz="1200" dirty="0">
                <a:solidFill>
                  <a:srgbClr val="F0F4F8"/>
                </a:solidFill>
                <a:latin typeface="Calibri" pitchFamily="34" charset="0"/>
                <a:ea typeface="Calibri" pitchFamily="34" charset="-122"/>
                <a:cs typeface="Calibri" pitchFamily="34" charset="-120"/>
              </a:rPr>
              <a:t>Loss diverged rather than converging; model emitted the same label for all inputs</a:t>
            </a:r>
            <a:endParaRPr lang="en-US" sz="1200" dirty="0"/>
          </a:p>
          <a:p>
            <a:pPr marL="342900" indent="-342900">
              <a:buSzPct val="100000"/>
              <a:buChar char="•"/>
            </a:pPr>
            <a:r>
              <a:rPr lang="en-US" sz="1200" dirty="0">
                <a:solidFill>
                  <a:srgbClr val="F0F4F8"/>
                </a:solidFill>
                <a:latin typeface="Calibri" pitchFamily="34" charset="0"/>
                <a:ea typeface="Calibri" pitchFamily="34" charset="-122"/>
                <a:cs typeface="Calibri" pitchFamily="34" charset="-120"/>
              </a:rPr>
              <a:t>Manifested after epoch 2 with the default LR of 2e-5</a:t>
            </a:r>
            <a:endParaRPr lang="en-US" sz="1200" dirty="0"/>
          </a:p>
        </p:txBody>
      </p:sp>
      <p:sp>
        <p:nvSpPr>
          <p:cNvPr id="10" name="Shape 8"/>
          <p:cNvSpPr/>
          <p:nvPr/>
        </p:nvSpPr>
        <p:spPr>
          <a:xfrm>
            <a:off x="3200400" y="1207008"/>
            <a:ext cx="2834640" cy="384048"/>
          </a:xfrm>
          <a:prstGeom prst="rect">
            <a:avLst/>
          </a:prstGeom>
          <a:solidFill>
            <a:srgbClr val="D97706"/>
          </a:solidFill>
          <a:ln w="12700">
            <a:solidFill>
              <a:srgbClr val="D97706"/>
            </a:solidFill>
            <a:prstDash val="solid"/>
          </a:ln>
        </p:spPr>
      </p:sp>
      <p:sp>
        <p:nvSpPr>
          <p:cNvPr id="11" name="Text 9"/>
          <p:cNvSpPr/>
          <p:nvPr/>
        </p:nvSpPr>
        <p:spPr>
          <a:xfrm>
            <a:off x="3200400" y="1207008"/>
            <a:ext cx="283464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ROOT-CAUSE DIAGNOSIS</a:t>
            </a:r>
            <a:endParaRPr lang="en-US" sz="1300" dirty="0"/>
          </a:p>
        </p:txBody>
      </p:sp>
      <p:sp>
        <p:nvSpPr>
          <p:cNvPr id="12" name="Shape 10"/>
          <p:cNvSpPr/>
          <p:nvPr/>
        </p:nvSpPr>
        <p:spPr>
          <a:xfrm>
            <a:off x="3200400" y="1591056"/>
            <a:ext cx="2834640" cy="3200400"/>
          </a:xfrm>
          <a:prstGeom prst="rect">
            <a:avLst/>
          </a:prstGeom>
          <a:solidFill>
            <a:srgbClr val="1A2E4A"/>
          </a:solidFill>
          <a:ln w="12700">
            <a:solidFill>
              <a:srgbClr val="D97706"/>
            </a:solidFill>
            <a:prstDash val="solid"/>
          </a:ln>
        </p:spPr>
      </p:sp>
      <p:sp>
        <p:nvSpPr>
          <p:cNvPr id="13" name="Text 11"/>
          <p:cNvSpPr/>
          <p:nvPr/>
        </p:nvSpPr>
        <p:spPr>
          <a:xfrm>
            <a:off x="3291840" y="1664208"/>
            <a:ext cx="2651760" cy="3017520"/>
          </a:xfrm>
          <a:prstGeom prst="rect">
            <a:avLst/>
          </a:prstGeom>
          <a:noFill/>
          <a:ln/>
        </p:spPr>
        <p:txBody>
          <a:bodyPr wrap="square" rtlCol="0" anchor="t"/>
          <a:lstStyle/>
          <a:p>
            <a:pPr marL="342900" indent="-342900">
              <a:buSzPct val="100000"/>
              <a:buChar char="•"/>
            </a:pPr>
            <a:r>
              <a:rPr lang="en-US" sz="1200" dirty="0">
                <a:solidFill>
                  <a:srgbClr val="F0F4F8"/>
                </a:solidFill>
                <a:latin typeface="Calibri" pitchFamily="34" charset="0"/>
                <a:ea typeface="Calibri" pitchFamily="34" charset="-122"/>
                <a:cs typeface="Calibri" pitchFamily="34" charset="-120"/>
              </a:rPr>
              <a:t>High parameter-to-data ratio: 550M params vs only 504 training samples</a:t>
            </a:r>
            <a:endParaRPr lang="en-US" sz="1200" dirty="0"/>
          </a:p>
          <a:p>
            <a:pPr marL="342900" indent="-342900">
              <a:buSzPct val="100000"/>
              <a:buChar char="•"/>
            </a:pPr>
            <a:r>
              <a:rPr lang="en-US" sz="1200" dirty="0">
                <a:solidFill>
                  <a:srgbClr val="F0F4F8"/>
                </a:solidFill>
                <a:latin typeface="Calibri" pitchFamily="34" charset="0"/>
                <a:ea typeface="Calibri" pitchFamily="34" charset="-122"/>
                <a:cs typeface="Calibri" pitchFamily="34" charset="-120"/>
              </a:rPr>
              <a:t>Catastrophic forgetting: large LR updates overwrote pre-trained representations</a:t>
            </a:r>
            <a:endParaRPr lang="en-US" sz="1200" dirty="0"/>
          </a:p>
          <a:p>
            <a:pPr marL="342900" indent="-342900">
              <a:buSzPct val="100000"/>
              <a:buChar char="•"/>
            </a:pPr>
            <a:r>
              <a:rPr lang="en-US" sz="1200" dirty="0">
                <a:solidFill>
                  <a:srgbClr val="F0F4F8"/>
                </a:solidFill>
                <a:latin typeface="Calibri" pitchFamily="34" charset="0"/>
                <a:ea typeface="Calibri" pitchFamily="34" charset="-122"/>
                <a:cs typeface="Calibri" pitchFamily="34" charset="-120"/>
              </a:rPr>
              <a:t>Insufficient warmup allowed large gradient magnitudes at initialisation</a:t>
            </a:r>
            <a:endParaRPr lang="en-US" sz="1200" dirty="0"/>
          </a:p>
        </p:txBody>
      </p:sp>
      <p:sp>
        <p:nvSpPr>
          <p:cNvPr id="14" name="Shape 12"/>
          <p:cNvSpPr/>
          <p:nvPr/>
        </p:nvSpPr>
        <p:spPr>
          <a:xfrm>
            <a:off x="6172200" y="1207008"/>
            <a:ext cx="2834640" cy="384048"/>
          </a:xfrm>
          <a:prstGeom prst="rect">
            <a:avLst/>
          </a:prstGeom>
          <a:solidFill>
            <a:srgbClr val="16A34A"/>
          </a:solidFill>
          <a:ln w="12700">
            <a:solidFill>
              <a:srgbClr val="16A34A"/>
            </a:solidFill>
            <a:prstDash val="solid"/>
          </a:ln>
        </p:spPr>
      </p:sp>
      <p:sp>
        <p:nvSpPr>
          <p:cNvPr id="15" name="Text 13"/>
          <p:cNvSpPr/>
          <p:nvPr/>
        </p:nvSpPr>
        <p:spPr>
          <a:xfrm>
            <a:off x="6172200" y="1207008"/>
            <a:ext cx="283464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THE RESCUE</a:t>
            </a:r>
            <a:endParaRPr lang="en-US" sz="1300" dirty="0"/>
          </a:p>
        </p:txBody>
      </p:sp>
      <p:sp>
        <p:nvSpPr>
          <p:cNvPr id="16" name="Shape 14"/>
          <p:cNvSpPr/>
          <p:nvPr/>
        </p:nvSpPr>
        <p:spPr>
          <a:xfrm>
            <a:off x="6172200" y="1591056"/>
            <a:ext cx="2834640" cy="3200400"/>
          </a:xfrm>
          <a:prstGeom prst="rect">
            <a:avLst/>
          </a:prstGeom>
          <a:solidFill>
            <a:srgbClr val="1A2E4A"/>
          </a:solidFill>
          <a:ln w="12700">
            <a:solidFill>
              <a:srgbClr val="16A34A"/>
            </a:solidFill>
            <a:prstDash val="solid"/>
          </a:ln>
        </p:spPr>
      </p:sp>
      <p:sp>
        <p:nvSpPr>
          <p:cNvPr id="17" name="Text 15"/>
          <p:cNvSpPr/>
          <p:nvPr/>
        </p:nvSpPr>
        <p:spPr>
          <a:xfrm>
            <a:off x="6263640" y="1664208"/>
            <a:ext cx="2651760" cy="3017520"/>
          </a:xfrm>
          <a:prstGeom prst="rect">
            <a:avLst/>
          </a:prstGeom>
          <a:noFill/>
          <a:ln/>
        </p:spPr>
        <p:txBody>
          <a:bodyPr wrap="square" rtlCol="0" anchor="t"/>
          <a:lstStyle/>
          <a:p>
            <a:pPr marL="342900" indent="-342900">
              <a:buSzPct val="100000"/>
              <a:buChar char="•"/>
            </a:pPr>
            <a:r>
              <a:rPr lang="en-US" sz="1200" dirty="0">
                <a:solidFill>
                  <a:srgbClr val="F0F4F8"/>
                </a:solidFill>
                <a:latin typeface="Calibri" pitchFamily="34" charset="0"/>
                <a:ea typeface="Calibri" pitchFamily="34" charset="-122"/>
                <a:cs typeface="Calibri" pitchFamily="34" charset="-120"/>
              </a:rPr>
              <a:t>Reduced learning rate to 5e-5 (2.5× lower) to dampen destructive updates</a:t>
            </a:r>
            <a:endParaRPr lang="en-US" sz="1200" dirty="0"/>
          </a:p>
          <a:p>
            <a:pPr marL="342900" indent="-342900">
              <a:buSzPct val="100000"/>
              <a:buChar char="•"/>
            </a:pPr>
            <a:r>
              <a:rPr lang="en-US" sz="1200" dirty="0">
                <a:solidFill>
                  <a:srgbClr val="F0F4F8"/>
                </a:solidFill>
                <a:latin typeface="Calibri" pitchFamily="34" charset="0"/>
                <a:ea typeface="Calibri" pitchFamily="34" charset="-122"/>
                <a:cs typeface="Calibri" pitchFamily="34" charset="-120"/>
              </a:rPr>
              <a:t>Added 20% warmup ratio — gradients grow gently from near-zero</a:t>
            </a:r>
            <a:endParaRPr lang="en-US" sz="1200" dirty="0"/>
          </a:p>
          <a:p>
            <a:pPr marL="342900" indent="-342900">
              <a:buSzPct val="100000"/>
              <a:buChar char="•"/>
            </a:pPr>
            <a:r>
              <a:rPr lang="en-US" sz="1200" dirty="0">
                <a:solidFill>
                  <a:srgbClr val="F0F4F8"/>
                </a:solidFill>
                <a:latin typeface="Calibri" pitchFamily="34" charset="0"/>
                <a:ea typeface="Calibri" pitchFamily="34" charset="-122"/>
                <a:cs typeface="Calibri" pitchFamily="34" charset="-120"/>
              </a:rPr>
              <a:t>Enabled early stopping (patience = 3) to halt before latent space degrades further</a:t>
            </a:r>
            <a:endParaRPr lang="en-US" sz="1200" dirty="0"/>
          </a:p>
        </p:txBody>
      </p:sp>
      <p:sp>
        <p:nvSpPr>
          <p:cNvPr id="18" name="Shape 16"/>
          <p:cNvSpPr/>
          <p:nvPr/>
        </p:nvSpPr>
        <p:spPr>
          <a:xfrm>
            <a:off x="228600" y="4754880"/>
            <a:ext cx="8686800" cy="320040"/>
          </a:xfrm>
          <a:prstGeom prst="rect">
            <a:avLst/>
          </a:prstGeom>
          <a:solidFill>
            <a:srgbClr val="0E7C7B"/>
          </a:solidFill>
          <a:ln w="12700">
            <a:solidFill>
              <a:srgbClr val="0E7C7B"/>
            </a:solidFill>
            <a:prstDash val="solid"/>
          </a:ln>
        </p:spPr>
      </p:sp>
      <p:sp>
        <p:nvSpPr>
          <p:cNvPr id="19" name="Text 17"/>
          <p:cNvSpPr/>
          <p:nvPr/>
        </p:nvSpPr>
        <p:spPr>
          <a:xfrm>
            <a:off x="228600" y="4754880"/>
            <a:ext cx="868680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Outcome: Model rescued — XLM-R recovered to 75.20% test accuracy after applying the three-pronged stability fix</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7C7B"/>
          </a:solidFill>
          <a:ln w="12700">
            <a:solidFill>
              <a:srgbClr val="0E7C7B"/>
            </a:solidFill>
            <a:prstDash val="solid"/>
          </a:ln>
        </p:spPr>
      </p:sp>
      <p:sp>
        <p:nvSpPr>
          <p:cNvPr id="3" name="Text 1"/>
          <p:cNvSpPr/>
          <p:nvPr/>
        </p:nvSpPr>
        <p:spPr>
          <a:xfrm>
            <a:off x="228600" y="256032"/>
            <a:ext cx="8686800" cy="502920"/>
          </a:xfrm>
          <a:prstGeom prst="rect">
            <a:avLst/>
          </a:prstGeom>
          <a:noFill/>
          <a:ln/>
        </p:spPr>
        <p:txBody>
          <a:bodyPr wrap="square" lIns="0" tIns="0" rIns="0" bIns="0" rtlCol="0" anchor="ctr"/>
          <a:lstStyle/>
          <a:p>
            <a:pPr indent="0" marL="0">
              <a:buNone/>
            </a:pPr>
            <a:r>
              <a:rPr lang="en-US" sz="2600" b="1" dirty="0">
                <a:solidFill>
                  <a:srgbClr val="0D1B3E"/>
                </a:solidFill>
                <a:latin typeface="Calibri" pitchFamily="34" charset="0"/>
                <a:ea typeface="Calibri" pitchFamily="34" charset="-122"/>
                <a:cs typeface="Calibri" pitchFamily="34" charset="-120"/>
              </a:rPr>
              <a:t>Experimental Results &amp; Model Comparison</a:t>
            </a:r>
            <a:endParaRPr lang="en-US" sz="2600" dirty="0"/>
          </a:p>
        </p:txBody>
      </p:sp>
      <p:sp>
        <p:nvSpPr>
          <p:cNvPr id="4" name="Shape 2"/>
          <p:cNvSpPr/>
          <p:nvPr/>
        </p:nvSpPr>
        <p:spPr>
          <a:xfrm>
            <a:off x="228600" y="795528"/>
            <a:ext cx="8686800" cy="27432"/>
          </a:xfrm>
          <a:prstGeom prst="rect">
            <a:avLst/>
          </a:prstGeom>
          <a:solidFill>
            <a:srgbClr val="14A5A3"/>
          </a:solidFill>
          <a:ln w="12700">
            <a:solidFill>
              <a:srgbClr val="14A5A3"/>
            </a:solidFill>
            <a:prstDash val="solid"/>
          </a:ln>
        </p:spPr>
      </p:sp>
      <p:sp>
        <p:nvSpPr>
          <p:cNvPr id="5" name="Text 3"/>
          <p:cNvSpPr/>
          <p:nvPr/>
        </p:nvSpPr>
        <p:spPr>
          <a:xfrm>
            <a:off x="228600" y="914400"/>
            <a:ext cx="8686800" cy="320040"/>
          </a:xfrm>
          <a:prstGeom prst="rect">
            <a:avLst/>
          </a:prstGeom>
          <a:noFill/>
          <a:ln/>
        </p:spPr>
        <p:txBody>
          <a:bodyPr wrap="square" rtlCol="0" anchor="ctr"/>
          <a:lstStyle/>
          <a:p>
            <a:pPr indent="0" marL="0">
              <a:buNone/>
            </a:pPr>
            <a:r>
              <a:rPr lang="en-US" sz="1400" b="1" dirty="0">
                <a:solidFill>
                  <a:srgbClr val="0D1B3E"/>
                </a:solidFill>
                <a:latin typeface="Calibri" pitchFamily="34" charset="0"/>
                <a:ea typeface="Calibri" pitchFamily="34" charset="-122"/>
                <a:cs typeface="Calibri" pitchFamily="34" charset="-120"/>
              </a:rPr>
              <a:t>Primary Evaluation Metrics (Test Set)</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228600" y="1280160"/>
          <a:ext cx="8686800" cy="914400"/>
        </p:xfrm>
        <a:graphic>
          <a:graphicData uri="http://schemas.openxmlformats.org/drawingml/2006/table">
            <a:tbl>
              <a:tblPr/>
              <a:tblGrid>
                <a:gridCol w="1737360"/>
                <a:gridCol w="2011680"/>
                <a:gridCol w="1188720"/>
                <a:gridCol w="1645920"/>
                <a:gridCol w="2103120"/>
              </a:tblGrid>
              <a:tr h="47548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Model</a:t>
                      </a:r>
                      <a:endParaRPr lang="en-US" sz="13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0D1B3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Architecture</a:t>
                      </a:r>
                      <a:endParaRPr lang="en-US" sz="13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0D1B3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Parameters</a:t>
                      </a:r>
                      <a:endParaRPr lang="en-US" sz="13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0D1B3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Test Accuracy</a:t>
                      </a:r>
                      <a:endParaRPr lang="en-US" sz="13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0D1B3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Cross-Lingual</a:t>
                      </a:r>
                      <a:endParaRPr lang="en-US" sz="13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0D1B3E"/>
                    </a:solidFill>
                  </a:tcPr>
                </a:tc>
              </a:tr>
              <a:tr h="475488">
                <a:tc>
                  <a:txBody>
                    <a:bodyPr/>
                    <a:lstStyle/>
                    <a:p>
                      <a:pPr indent="0" marL="0">
                        <a:buNone/>
                      </a:pPr>
                      <a:r>
                        <a:rPr lang="en-US" sz="1300" b="1" dirty="0">
                          <a:solidFill>
                            <a:srgbClr val="000000"/>
                          </a:solidFill>
                          <a:latin typeface="Calibri" pitchFamily="34" charset="0"/>
                          <a:ea typeface="Calibri" pitchFamily="34" charset="-122"/>
                          <a:cs typeface="Calibri" pitchFamily="34" charset="-120"/>
                        </a:rPr>
                        <a:t>NLLB-200 ★</a:t>
                      </a:r>
                      <a:endParaRPr lang="en-US" sz="13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E8F5E9"/>
                    </a:solidFill>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Enc-Dec Transformer</a:t>
                      </a:r>
                      <a:endParaRPr lang="en-US" sz="13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E8F5E9"/>
                    </a:solidFill>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600M</a:t>
                      </a:r>
                      <a:endParaRPr lang="en-US" sz="13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E8F5E9"/>
                    </a:solidFill>
                  </a:tcPr>
                </a:tc>
                <a:tc>
                  <a:txBody>
                    <a:bodyPr/>
                    <a:lstStyle/>
                    <a:p>
                      <a:pPr indent="0" marL="0">
                        <a:buNone/>
                      </a:pPr>
                      <a:r>
                        <a:rPr lang="en-US" sz="1400" b="1" dirty="0">
                          <a:solidFill>
                            <a:srgbClr val="16A34A"/>
                          </a:solidFill>
                          <a:latin typeface="Calibri" pitchFamily="34" charset="0"/>
                          <a:ea typeface="Calibri" pitchFamily="34" charset="-122"/>
                          <a:cs typeface="Calibri" pitchFamily="34" charset="-120"/>
                        </a:rPr>
                        <a:t>79.64%</a:t>
                      </a:r>
                      <a:endParaRPr lang="en-US" sz="14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E8F5E9"/>
                    </a:solidFill>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200+ languages</a:t>
                      </a:r>
                      <a:endParaRPr lang="en-US" sz="13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E8F5E9"/>
                    </a:solidFill>
                  </a:tcPr>
                </a:tc>
              </a:tr>
              <a:tr h="475488">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XLM-R Large</a:t>
                      </a:r>
                      <a:endParaRPr lang="en-US" sz="13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Encoder Transformer</a:t>
                      </a:r>
                      <a:endParaRPr lang="en-US" sz="13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550M</a:t>
                      </a:r>
                      <a:endParaRPr lang="en-US" sz="13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400" b="1" dirty="0">
                          <a:solidFill>
                            <a:srgbClr val="0E7C7B"/>
                          </a:solidFill>
                          <a:latin typeface="Calibri" pitchFamily="34" charset="0"/>
                          <a:ea typeface="Calibri" pitchFamily="34" charset="-122"/>
                          <a:cs typeface="Calibri" pitchFamily="34" charset="-120"/>
                        </a:rPr>
                        <a:t>75.20%</a:t>
                      </a:r>
                      <a:endParaRPr lang="en-US" sz="14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100 languages</a:t>
                      </a:r>
                      <a:endParaRPr lang="en-US" sz="13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475488">
                <a:tc>
                  <a:txBody>
                    <a:bodyPr/>
                    <a:lstStyle/>
                    <a:p>
                      <a:pPr indent="0" marL="0">
                        <a:buNone/>
                      </a:pPr>
                      <a:r>
                        <a:rPr lang="en-US" sz="1200" dirty="0">
                          <a:solidFill>
                            <a:srgbClr val="64748B"/>
                          </a:solidFill>
                          <a:latin typeface="Calibri" pitchFamily="34" charset="0"/>
                          <a:ea typeface="Calibri" pitchFamily="34" charset="-122"/>
                          <a:cs typeface="Calibri" pitchFamily="34" charset="-120"/>
                        </a:rPr>
                        <a:t>Random Baseline</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64748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64748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DC2626"/>
                          </a:solidFill>
                          <a:latin typeface="Calibri" pitchFamily="34" charset="0"/>
                          <a:ea typeface="Calibri" pitchFamily="34" charset="-122"/>
                          <a:cs typeface="Calibri" pitchFamily="34" charset="-120"/>
                        </a:rPr>
                        <a:t>33.3%</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64748B"/>
                          </a:solidFill>
                          <a:latin typeface="Calibri" pitchFamily="34" charset="0"/>
                          <a:ea typeface="Calibri" pitchFamily="34" charset="-122"/>
                          <a:cs typeface="Calibri" pitchFamily="34" charset="-120"/>
                        </a:rPr>
                        <a:t>N/A</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bl>
          </a:graphicData>
        </a:graphic>
      </p:graphicFrame>
      <p:graphicFrame>
        <p:nvGraphicFramePr>
          <p:cNvPr id="7" name="Chart 0" descr=""/>
          <p:cNvGraphicFramePr/>
          <p:nvPr/>
        </p:nvGraphicFramePr>
        <p:xfrm>
          <a:off x="228600" y="2926080"/>
          <a:ext cx="8686800" cy="2011680"/>
        </p:xfrm>
        <a:graphic xmlns:a="http://schemas.openxmlformats.org/drawingml/2006/main">
          <a:graphicData uri="http://schemas.openxmlformats.org/drawingml/2006/chart">
            <c:chart xmlns:c="http://schemas.openxmlformats.org/drawingml/2006/chart" r:id="rId1"/>
          </a:graphicData>
        </a:graphic>
      </p:graphicFrame>
      <p:sp>
        <p:nvSpPr>
          <p:cNvPr id="99" name="MixedNote"/>
          <p:cNvSpPr>
            <a:spLocks noGrp="1"/>
          </p:cNvSpPr>
          <p:nvPr/>
        </p:nvSpPr>
        <p:spPr>
          <a:xfrm>
            <a:off x="228600" y="4800600"/>
            <a:ext cx="9144000" cy="380000"/>
          </a:xfrm>
          <a:prstGeom prst="rect">
            <a:avLst/>
          </a:prstGeom>
          <a:solidFill>
            <a:srgbClr val="FFF3CD"/>
          </a:solidFill>
          <a:ln>
            <a:solidFill>
              <a:srgbClr val="D97706"/>
            </a:solidFill>
          </a:ln>
        </p:spPr>
        <p:txBody>
          <a:bodyPr marL="91440" marR="91440" marT="45720" marB="45720"/>
          <a:lstStyle/>
          <a:p>
            <a:r>
              <a:rPr lang="en-US" sz="1200" b="1" dirty="0">
                <a:solidFill>
                  <a:srgbClr val="D97706"/>
                </a:solidFill>
                <a:latin typeface="Calibri"/>
              </a:rPr>
              <a:t>★ NLLB-200 (Mixed Language: Hindi/English) — Best Overall Accuracy: 80.81%</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7C7B"/>
          </a:solidFill>
          <a:ln w="12700">
            <a:solidFill>
              <a:srgbClr val="0E7C7B"/>
            </a:solidFill>
            <a:prstDash val="solid"/>
          </a:ln>
        </p:spPr>
      </p:sp>
      <p:sp>
        <p:nvSpPr>
          <p:cNvPr id="3" name="Text 1"/>
          <p:cNvSpPr/>
          <p:nvPr/>
        </p:nvSpPr>
        <p:spPr>
          <a:xfrm>
            <a:off x="228600" y="256032"/>
            <a:ext cx="8686800" cy="502920"/>
          </a:xfrm>
          <a:prstGeom prst="rect">
            <a:avLst/>
          </a:prstGeom>
          <a:noFill/>
          <a:ln/>
        </p:spPr>
        <p:txBody>
          <a:bodyPr wrap="square" lIns="0" tIns="0" rIns="0" bIns="0" rtlCol="0" anchor="ctr"/>
          <a:lstStyle/>
          <a:p>
            <a:pPr indent="0" marL="0">
              <a:buNone/>
            </a:pPr>
            <a:r>
              <a:rPr lang="en-US" sz="2600" b="1" dirty="0">
                <a:solidFill>
                  <a:srgbClr val="0D1B3E"/>
                </a:solidFill>
                <a:latin typeface="Calibri" pitchFamily="34" charset="0"/>
                <a:ea typeface="Calibri" pitchFamily="34" charset="-122"/>
                <a:cs typeface="Calibri" pitchFamily="34" charset="-120"/>
              </a:rPr>
              <a:t>Why NLLB-200 Outperforms XLM-R: Theoretical Analysis</a:t>
            </a:r>
            <a:endParaRPr lang="en-US" sz="2600" dirty="0"/>
          </a:p>
        </p:txBody>
      </p:sp>
      <p:sp>
        <p:nvSpPr>
          <p:cNvPr id="4" name="Shape 2"/>
          <p:cNvSpPr/>
          <p:nvPr/>
        </p:nvSpPr>
        <p:spPr>
          <a:xfrm>
            <a:off x="228600" y="795528"/>
            <a:ext cx="8686800" cy="27432"/>
          </a:xfrm>
          <a:prstGeom prst="rect">
            <a:avLst/>
          </a:prstGeom>
          <a:solidFill>
            <a:srgbClr val="14A5A3"/>
          </a:solidFill>
          <a:ln w="12700">
            <a:solidFill>
              <a:srgbClr val="14A5A3"/>
            </a:solidFill>
            <a:prstDash val="solid"/>
          </a:ln>
        </p:spPr>
      </p:sp>
      <p:sp>
        <p:nvSpPr>
          <p:cNvPr id="5" name="Shape 3"/>
          <p:cNvSpPr/>
          <p:nvPr/>
        </p:nvSpPr>
        <p:spPr>
          <a:xfrm>
            <a:off x="228600" y="960120"/>
            <a:ext cx="54864" cy="822960"/>
          </a:xfrm>
          <a:prstGeom prst="rect">
            <a:avLst/>
          </a:prstGeom>
          <a:solidFill>
            <a:srgbClr val="0E7C7B"/>
          </a:solidFill>
          <a:ln w="12700">
            <a:solidFill>
              <a:srgbClr val="0E7C7B"/>
            </a:solidFill>
            <a:prstDash val="solid"/>
          </a:ln>
        </p:spPr>
      </p:sp>
      <p:sp>
        <p:nvSpPr>
          <p:cNvPr id="6" name="Text 4"/>
          <p:cNvSpPr/>
          <p:nvPr/>
        </p:nvSpPr>
        <p:spPr>
          <a:xfrm>
            <a:off x="384048" y="960120"/>
            <a:ext cx="8503920" cy="320040"/>
          </a:xfrm>
          <a:prstGeom prst="rect">
            <a:avLst/>
          </a:prstGeom>
          <a:noFill/>
          <a:ln/>
        </p:spPr>
        <p:txBody>
          <a:bodyPr wrap="square" lIns="0" tIns="0" rIns="0" bIns="0" rtlCol="0" anchor="ctr"/>
          <a:lstStyle/>
          <a:p>
            <a:pPr indent="0" marL="0">
              <a:buNone/>
            </a:pPr>
            <a:r>
              <a:rPr lang="en-US" sz="1300" b="1" dirty="0">
                <a:solidFill>
                  <a:srgbClr val="0D1B3E"/>
                </a:solidFill>
                <a:latin typeface="Calibri" pitchFamily="34" charset="0"/>
                <a:ea typeface="Calibri" pitchFamily="34" charset="-122"/>
                <a:cs typeface="Calibri" pitchFamily="34" charset="-120"/>
              </a:rPr>
              <a:t>1.  Cross-Lingual Alignment Objective</a:t>
            </a:r>
            <a:endParaRPr lang="en-US" sz="1300" dirty="0"/>
          </a:p>
        </p:txBody>
      </p:sp>
      <p:sp>
        <p:nvSpPr>
          <p:cNvPr id="7" name="Text 5"/>
          <p:cNvSpPr/>
          <p:nvPr/>
        </p:nvSpPr>
        <p:spPr>
          <a:xfrm>
            <a:off x="384048" y="1280160"/>
            <a:ext cx="8503920" cy="59436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NLLB-200 was trained via explicit neural machine translation across 200 languages, enforcing tight semantic alignment in the shared embedding space. XLM-R's multilingual masked LM creates implicit alignment — adequate, but less precise for morphologically rich languages like Hindi.</a:t>
            </a:r>
            <a:endParaRPr lang="en-US" sz="1200" dirty="0"/>
          </a:p>
        </p:txBody>
      </p:sp>
      <p:sp>
        <p:nvSpPr>
          <p:cNvPr id="8" name="Shape 6"/>
          <p:cNvSpPr/>
          <p:nvPr/>
        </p:nvSpPr>
        <p:spPr>
          <a:xfrm>
            <a:off x="228600" y="1947672"/>
            <a:ext cx="54864" cy="822960"/>
          </a:xfrm>
          <a:prstGeom prst="rect">
            <a:avLst/>
          </a:prstGeom>
          <a:solidFill>
            <a:srgbClr val="0E7C7B"/>
          </a:solidFill>
          <a:ln w="12700">
            <a:solidFill>
              <a:srgbClr val="0E7C7B"/>
            </a:solidFill>
            <a:prstDash val="solid"/>
          </a:ln>
        </p:spPr>
      </p:sp>
      <p:sp>
        <p:nvSpPr>
          <p:cNvPr id="9" name="Text 7"/>
          <p:cNvSpPr/>
          <p:nvPr/>
        </p:nvSpPr>
        <p:spPr>
          <a:xfrm>
            <a:off x="384048" y="1947672"/>
            <a:ext cx="8503920" cy="320040"/>
          </a:xfrm>
          <a:prstGeom prst="rect">
            <a:avLst/>
          </a:prstGeom>
          <a:noFill/>
          <a:ln/>
        </p:spPr>
        <p:txBody>
          <a:bodyPr wrap="square" lIns="0" tIns="0" rIns="0" bIns="0" rtlCol="0" anchor="ctr"/>
          <a:lstStyle/>
          <a:p>
            <a:pPr indent="0" marL="0">
              <a:buNone/>
            </a:pPr>
            <a:r>
              <a:rPr lang="en-US" sz="1300" b="1" dirty="0">
                <a:solidFill>
                  <a:srgbClr val="0D1B3E"/>
                </a:solidFill>
                <a:latin typeface="Calibri" pitchFamily="34" charset="0"/>
                <a:ea typeface="Calibri" pitchFamily="34" charset="-122"/>
                <a:cs typeface="Calibri" pitchFamily="34" charset="-120"/>
              </a:rPr>
              <a:t>2.  Encoder-Decoder vs Encoder-Only Representation</a:t>
            </a:r>
            <a:endParaRPr lang="en-US" sz="1300" dirty="0"/>
          </a:p>
        </p:txBody>
      </p:sp>
      <p:sp>
        <p:nvSpPr>
          <p:cNvPr id="10" name="Text 8"/>
          <p:cNvSpPr/>
          <p:nvPr/>
        </p:nvSpPr>
        <p:spPr>
          <a:xfrm>
            <a:off x="384048" y="2267712"/>
            <a:ext cx="8503920" cy="59436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Mean pooling over all encoder hidden states (NLLB) aggregates both local and global context across the full sequence. XLM-R's [CLS] token is trained to summarise the sequence but may lose fine-grained domain cues for longer Hindi passages.</a:t>
            </a:r>
            <a:endParaRPr lang="en-US" sz="1200" dirty="0"/>
          </a:p>
        </p:txBody>
      </p:sp>
      <p:sp>
        <p:nvSpPr>
          <p:cNvPr id="11" name="Shape 9"/>
          <p:cNvSpPr/>
          <p:nvPr/>
        </p:nvSpPr>
        <p:spPr>
          <a:xfrm>
            <a:off x="228600" y="2935224"/>
            <a:ext cx="54864" cy="822960"/>
          </a:xfrm>
          <a:prstGeom prst="rect">
            <a:avLst/>
          </a:prstGeom>
          <a:solidFill>
            <a:srgbClr val="0E7C7B"/>
          </a:solidFill>
          <a:ln w="12700">
            <a:solidFill>
              <a:srgbClr val="0E7C7B"/>
            </a:solidFill>
            <a:prstDash val="solid"/>
          </a:ln>
        </p:spPr>
      </p:sp>
      <p:sp>
        <p:nvSpPr>
          <p:cNvPr id="12" name="Text 10"/>
          <p:cNvSpPr/>
          <p:nvPr/>
        </p:nvSpPr>
        <p:spPr>
          <a:xfrm>
            <a:off x="384048" y="2935224"/>
            <a:ext cx="8503920" cy="320040"/>
          </a:xfrm>
          <a:prstGeom prst="rect">
            <a:avLst/>
          </a:prstGeom>
          <a:noFill/>
          <a:ln/>
        </p:spPr>
        <p:txBody>
          <a:bodyPr wrap="square" lIns="0" tIns="0" rIns="0" bIns="0" rtlCol="0" anchor="ctr"/>
          <a:lstStyle/>
          <a:p>
            <a:pPr indent="0" marL="0">
              <a:buNone/>
            </a:pPr>
            <a:r>
              <a:rPr lang="en-US" sz="1300" b="1" dirty="0">
                <a:solidFill>
                  <a:srgbClr val="0D1B3E"/>
                </a:solidFill>
                <a:latin typeface="Calibri" pitchFamily="34" charset="0"/>
                <a:ea typeface="Calibri" pitchFamily="34" charset="-122"/>
                <a:cs typeface="Calibri" pitchFamily="34" charset="-120"/>
              </a:rPr>
              <a:t>3.  Shared Vocabulary Depth for Indic Languages</a:t>
            </a:r>
            <a:endParaRPr lang="en-US" sz="1300" dirty="0"/>
          </a:p>
        </p:txBody>
      </p:sp>
      <p:sp>
        <p:nvSpPr>
          <p:cNvPr id="13" name="Text 11"/>
          <p:cNvSpPr/>
          <p:nvPr/>
        </p:nvSpPr>
        <p:spPr>
          <a:xfrm>
            <a:off x="384048" y="3255264"/>
            <a:ext cx="8503920" cy="59436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NLLB-200's SentencePiece model was trained with deliberate over-sampling of low-resource languages including Hindi and other Indic scripts, yielding richer subword coverage and fewer out-of-vocabulary fragments than XLM-R (limited to 100 languages).</a:t>
            </a:r>
            <a:endParaRPr lang="en-US" sz="1200" dirty="0"/>
          </a:p>
        </p:txBody>
      </p:sp>
      <p:sp>
        <p:nvSpPr>
          <p:cNvPr id="14" name="Shape 12"/>
          <p:cNvSpPr/>
          <p:nvPr/>
        </p:nvSpPr>
        <p:spPr>
          <a:xfrm>
            <a:off x="228600" y="3922776"/>
            <a:ext cx="54864" cy="822960"/>
          </a:xfrm>
          <a:prstGeom prst="rect">
            <a:avLst/>
          </a:prstGeom>
          <a:solidFill>
            <a:srgbClr val="0E7C7B"/>
          </a:solidFill>
          <a:ln w="12700">
            <a:solidFill>
              <a:srgbClr val="0E7C7B"/>
            </a:solidFill>
            <a:prstDash val="solid"/>
          </a:ln>
        </p:spPr>
      </p:sp>
      <p:sp>
        <p:nvSpPr>
          <p:cNvPr id="15" name="Text 13"/>
          <p:cNvSpPr/>
          <p:nvPr/>
        </p:nvSpPr>
        <p:spPr>
          <a:xfrm>
            <a:off x="384048" y="3922776"/>
            <a:ext cx="8503920" cy="320040"/>
          </a:xfrm>
          <a:prstGeom prst="rect">
            <a:avLst/>
          </a:prstGeom>
          <a:noFill/>
          <a:ln/>
        </p:spPr>
        <p:txBody>
          <a:bodyPr wrap="square" lIns="0" tIns="0" rIns="0" bIns="0" rtlCol="0" anchor="ctr"/>
          <a:lstStyle/>
          <a:p>
            <a:pPr indent="0" marL="0">
              <a:buNone/>
            </a:pPr>
            <a:r>
              <a:rPr lang="en-US" sz="1300" b="1" dirty="0">
                <a:solidFill>
                  <a:srgbClr val="0D1B3E"/>
                </a:solidFill>
                <a:latin typeface="Calibri" pitchFamily="34" charset="0"/>
                <a:ea typeface="Calibri" pitchFamily="34" charset="-122"/>
                <a:cs typeface="Calibri" pitchFamily="34" charset="-120"/>
              </a:rPr>
              <a:t>4.  Zero-Shot Generalisation via Dense Language Identification</a:t>
            </a:r>
            <a:endParaRPr lang="en-US" sz="1300" dirty="0"/>
          </a:p>
        </p:txBody>
      </p:sp>
      <p:sp>
        <p:nvSpPr>
          <p:cNvPr id="16" name="Text 14"/>
          <p:cNvSpPr/>
          <p:nvPr/>
        </p:nvSpPr>
        <p:spPr>
          <a:xfrm>
            <a:off x="384048" y="4242816"/>
            <a:ext cx="8503920" cy="59436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NLLB's architecture includes language identification tokens that activate language-specific pathways, producing representations that are inherently language-agnostic at the task level — critical for generalising to 200+ unseen inference languages in the Gradio UI.</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7C7B"/>
          </a:solidFill>
          <a:ln w="12700">
            <a:solidFill>
              <a:srgbClr val="0E7C7B"/>
            </a:solidFill>
            <a:prstDash val="solid"/>
          </a:ln>
        </p:spPr>
      </p:sp>
      <p:sp>
        <p:nvSpPr>
          <p:cNvPr id="3" name="Text 1"/>
          <p:cNvSpPr/>
          <p:nvPr/>
        </p:nvSpPr>
        <p:spPr>
          <a:xfrm>
            <a:off x="228600" y="256032"/>
            <a:ext cx="8686800" cy="502920"/>
          </a:xfrm>
          <a:prstGeom prst="rect">
            <a:avLst/>
          </a:prstGeom>
          <a:noFill/>
          <a:ln/>
        </p:spPr>
        <p:txBody>
          <a:bodyPr wrap="square" lIns="0" tIns="0" rIns="0" bIns="0" rtlCol="0" anchor="ctr"/>
          <a:lstStyle/>
          <a:p>
            <a:pPr indent="0" marL="0">
              <a:buNone/>
            </a:pPr>
            <a:r>
              <a:rPr lang="en-US" sz="2600" b="1" dirty="0">
                <a:solidFill>
                  <a:srgbClr val="0D1B3E"/>
                </a:solidFill>
                <a:latin typeface="Calibri" pitchFamily="34" charset="0"/>
                <a:ea typeface="Calibri" pitchFamily="34" charset="-122"/>
                <a:cs typeface="Calibri" pitchFamily="34" charset="-120"/>
              </a:rPr>
              <a:t>Universal Gradio UI &amp; Deployment Architecture</a:t>
            </a:r>
            <a:endParaRPr lang="en-US" sz="2600" dirty="0"/>
          </a:p>
        </p:txBody>
      </p:sp>
      <p:sp>
        <p:nvSpPr>
          <p:cNvPr id="4" name="Shape 2"/>
          <p:cNvSpPr/>
          <p:nvPr/>
        </p:nvSpPr>
        <p:spPr>
          <a:xfrm>
            <a:off x="228600" y="795528"/>
            <a:ext cx="8686800" cy="27432"/>
          </a:xfrm>
          <a:prstGeom prst="rect">
            <a:avLst/>
          </a:prstGeom>
          <a:solidFill>
            <a:srgbClr val="14A5A3"/>
          </a:solidFill>
          <a:ln w="12700">
            <a:solidFill>
              <a:srgbClr val="14A5A3"/>
            </a:solidFill>
            <a:prstDash val="solid"/>
          </a:ln>
        </p:spPr>
      </p:sp>
      <p:sp>
        <p:nvSpPr>
          <p:cNvPr id="5" name="Text 3"/>
          <p:cNvSpPr/>
          <p:nvPr/>
        </p:nvSpPr>
        <p:spPr>
          <a:xfrm>
            <a:off x="228600" y="914400"/>
            <a:ext cx="4297680" cy="320040"/>
          </a:xfrm>
          <a:prstGeom prst="rect">
            <a:avLst/>
          </a:prstGeom>
          <a:noFill/>
          <a:ln/>
        </p:spPr>
        <p:txBody>
          <a:bodyPr wrap="square" rtlCol="0" anchor="ctr"/>
          <a:lstStyle/>
          <a:p>
            <a:pPr indent="0" marL="0">
              <a:buNone/>
            </a:pPr>
            <a:r>
              <a:rPr lang="en-US" sz="1400" b="1" dirty="0">
                <a:solidFill>
                  <a:srgbClr val="0D1B3E"/>
                </a:solidFill>
                <a:latin typeface="Calibri" pitchFamily="34" charset="0"/>
                <a:ea typeface="Calibri" pitchFamily="34" charset="-122"/>
                <a:cs typeface="Calibri" pitchFamily="34" charset="-120"/>
              </a:rPr>
              <a:t>Gradio Application Features</a:t>
            </a:r>
            <a:endParaRPr lang="en-US" sz="1400" dirty="0"/>
          </a:p>
        </p:txBody>
      </p:sp>
      <p:sp>
        <p:nvSpPr>
          <p:cNvPr id="6" name="Text 4"/>
          <p:cNvSpPr/>
          <p:nvPr/>
        </p:nvSpPr>
        <p:spPr>
          <a:xfrm>
            <a:off x="228600" y="1298448"/>
            <a:ext cx="4297680" cy="274320"/>
          </a:xfrm>
          <a:prstGeom prst="rect">
            <a:avLst/>
          </a:prstGeom>
          <a:noFill/>
          <a:ln/>
        </p:spPr>
        <p:txBody>
          <a:bodyPr wrap="square" lIns="0" tIns="0" rIns="0" bIns="0" rtlCol="0" anchor="ctr"/>
          <a:lstStyle/>
          <a:p>
            <a:pPr indent="0" marL="0">
              <a:buNone/>
            </a:pPr>
            <a:r>
              <a:rPr lang="en-US" sz="1300" b="1" dirty="0">
                <a:solidFill>
                  <a:srgbClr val="0E7C7B"/>
                </a:solidFill>
                <a:latin typeface="Calibri" pitchFamily="34" charset="0"/>
                <a:ea typeface="Calibri" pitchFamily="34" charset="-122"/>
                <a:cs typeface="Calibri" pitchFamily="34" charset="-120"/>
              </a:rPr>
              <a:t>🌐  200+ Language Support</a:t>
            </a:r>
            <a:endParaRPr lang="en-US" sz="1300" dirty="0"/>
          </a:p>
        </p:txBody>
      </p:sp>
      <p:sp>
        <p:nvSpPr>
          <p:cNvPr id="7" name="Text 5"/>
          <p:cNvSpPr/>
          <p:nvPr/>
        </p:nvSpPr>
        <p:spPr>
          <a:xfrm>
            <a:off x="228600" y="1572768"/>
            <a:ext cx="4297680" cy="53035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Leverages NLLB's shared embedding space — any language encodable by the tokeniser can be submitted for domain classification without retraining</a:t>
            </a:r>
            <a:endParaRPr lang="en-US" sz="1200" dirty="0"/>
          </a:p>
        </p:txBody>
      </p:sp>
      <p:sp>
        <p:nvSpPr>
          <p:cNvPr id="8" name="Text 6"/>
          <p:cNvSpPr/>
          <p:nvPr/>
        </p:nvSpPr>
        <p:spPr>
          <a:xfrm>
            <a:off x="228600" y="2185416"/>
            <a:ext cx="4297680" cy="274320"/>
          </a:xfrm>
          <a:prstGeom prst="rect">
            <a:avLst/>
          </a:prstGeom>
          <a:noFill/>
          <a:ln/>
        </p:spPr>
        <p:txBody>
          <a:bodyPr wrap="square" lIns="0" tIns="0" rIns="0" bIns="0" rtlCol="0" anchor="ctr"/>
          <a:lstStyle/>
          <a:p>
            <a:pPr indent="0" marL="0">
              <a:buNone/>
            </a:pPr>
            <a:r>
              <a:rPr lang="en-US" sz="1300" b="1" dirty="0">
                <a:solidFill>
                  <a:srgbClr val="0E7C7B"/>
                </a:solidFill>
                <a:latin typeface="Calibri" pitchFamily="34" charset="0"/>
                <a:ea typeface="Calibri" pitchFamily="34" charset="-122"/>
                <a:cs typeface="Calibri" pitchFamily="34" charset="-120"/>
              </a:rPr>
              <a:t>⚡  Real-Time Inference</a:t>
            </a:r>
            <a:endParaRPr lang="en-US" sz="1300" dirty="0"/>
          </a:p>
        </p:txBody>
      </p:sp>
      <p:sp>
        <p:nvSpPr>
          <p:cNvPr id="9" name="Text 7"/>
          <p:cNvSpPr/>
          <p:nvPr/>
        </p:nvSpPr>
        <p:spPr>
          <a:xfrm>
            <a:off x="228600" y="2459736"/>
            <a:ext cx="4297680" cy="53035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Quantised 4-bit model enables sub-second inference on CPU-only instances; no GPU required at serving time</a:t>
            </a:r>
            <a:endParaRPr lang="en-US" sz="1200" dirty="0"/>
          </a:p>
        </p:txBody>
      </p:sp>
      <p:sp>
        <p:nvSpPr>
          <p:cNvPr id="10" name="Text 8"/>
          <p:cNvSpPr/>
          <p:nvPr/>
        </p:nvSpPr>
        <p:spPr>
          <a:xfrm>
            <a:off x="228600" y="3072384"/>
            <a:ext cx="4297680" cy="274320"/>
          </a:xfrm>
          <a:prstGeom prst="rect">
            <a:avLst/>
          </a:prstGeom>
          <a:noFill/>
          <a:ln/>
        </p:spPr>
        <p:txBody>
          <a:bodyPr wrap="square" lIns="0" tIns="0" rIns="0" bIns="0" rtlCol="0" anchor="ctr"/>
          <a:lstStyle/>
          <a:p>
            <a:pPr indent="0" marL="0">
              <a:buNone/>
            </a:pPr>
            <a:r>
              <a:rPr lang="en-US" sz="1300" b="1" dirty="0">
                <a:solidFill>
                  <a:srgbClr val="0E7C7B"/>
                </a:solidFill>
                <a:latin typeface="Calibri" pitchFamily="34" charset="0"/>
                <a:ea typeface="Calibri" pitchFamily="34" charset="-122"/>
                <a:cs typeface="Calibri" pitchFamily="34" charset="-120"/>
              </a:rPr>
              <a:t>📊  Confidence Scores</a:t>
            </a:r>
            <a:endParaRPr lang="en-US" sz="1300" dirty="0"/>
          </a:p>
        </p:txBody>
      </p:sp>
      <p:sp>
        <p:nvSpPr>
          <p:cNvPr id="11" name="Text 9"/>
          <p:cNvSpPr/>
          <p:nvPr/>
        </p:nvSpPr>
        <p:spPr>
          <a:xfrm>
            <a:off x="228600" y="3346704"/>
            <a:ext cx="4297680" cy="53035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Softmax probabilities displayed for all three domain classes, enabling threshold-based decision making</a:t>
            </a:r>
            <a:endParaRPr lang="en-US" sz="1200" dirty="0"/>
          </a:p>
        </p:txBody>
      </p:sp>
      <p:sp>
        <p:nvSpPr>
          <p:cNvPr id="12" name="Text 10"/>
          <p:cNvSpPr/>
          <p:nvPr/>
        </p:nvSpPr>
        <p:spPr>
          <a:xfrm>
            <a:off x="228600" y="3959352"/>
            <a:ext cx="4297680" cy="274320"/>
          </a:xfrm>
          <a:prstGeom prst="rect">
            <a:avLst/>
          </a:prstGeom>
          <a:noFill/>
          <a:ln/>
        </p:spPr>
        <p:txBody>
          <a:bodyPr wrap="square" lIns="0" tIns="0" rIns="0" bIns="0" rtlCol="0" anchor="ctr"/>
          <a:lstStyle/>
          <a:p>
            <a:pPr indent="0" marL="0">
              <a:buNone/>
            </a:pPr>
            <a:r>
              <a:rPr lang="en-US" sz="1300" b="1" dirty="0">
                <a:solidFill>
                  <a:srgbClr val="0E7C7B"/>
                </a:solidFill>
                <a:latin typeface="Calibri" pitchFamily="34" charset="0"/>
                <a:ea typeface="Calibri" pitchFamily="34" charset="-122"/>
                <a:cs typeface="Calibri" pitchFamily="34" charset="-120"/>
              </a:rPr>
              <a:t>🔒  Input Validation</a:t>
            </a:r>
            <a:endParaRPr lang="en-US" sz="1300" dirty="0"/>
          </a:p>
        </p:txBody>
      </p:sp>
      <p:sp>
        <p:nvSpPr>
          <p:cNvPr id="13" name="Text 11"/>
          <p:cNvSpPr/>
          <p:nvPr/>
        </p:nvSpPr>
        <p:spPr>
          <a:xfrm>
            <a:off x="228600" y="4233672"/>
            <a:ext cx="4297680" cy="53035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Server-side length truncation and encoding normalisation prevent adversarial inputs from corrupting model state</a:t>
            </a:r>
            <a:endParaRPr lang="en-US" sz="1200" dirty="0"/>
          </a:p>
        </p:txBody>
      </p:sp>
      <p:sp>
        <p:nvSpPr>
          <p:cNvPr id="14" name="Shape 12"/>
          <p:cNvSpPr/>
          <p:nvPr/>
        </p:nvSpPr>
        <p:spPr>
          <a:xfrm>
            <a:off x="4800600" y="914400"/>
            <a:ext cx="4114800" cy="4160520"/>
          </a:xfrm>
          <a:prstGeom prst="rect">
            <a:avLst/>
          </a:prstGeom>
          <a:solidFill>
            <a:srgbClr val="F0F4F8"/>
          </a:solidFill>
          <a:ln w="12700">
            <a:solidFill>
              <a:srgbClr val="E2E8F0"/>
            </a:solidFill>
            <a:prstDash val="solid"/>
          </a:ln>
        </p:spPr>
      </p:sp>
      <p:sp>
        <p:nvSpPr>
          <p:cNvPr id="15" name="Text 13"/>
          <p:cNvSpPr/>
          <p:nvPr/>
        </p:nvSpPr>
        <p:spPr>
          <a:xfrm>
            <a:off x="4937760" y="1005840"/>
            <a:ext cx="3840480" cy="320040"/>
          </a:xfrm>
          <a:prstGeom prst="rect">
            <a:avLst/>
          </a:prstGeom>
          <a:noFill/>
          <a:ln/>
        </p:spPr>
        <p:txBody>
          <a:bodyPr wrap="square" rtlCol="0" anchor="ctr"/>
          <a:lstStyle/>
          <a:p>
            <a:pPr indent="0" marL="0">
              <a:buNone/>
            </a:pPr>
            <a:r>
              <a:rPr lang="en-US" sz="1400" b="1" dirty="0">
                <a:solidFill>
                  <a:srgbClr val="0D1B3E"/>
                </a:solidFill>
                <a:latin typeface="Calibri" pitchFamily="34" charset="0"/>
                <a:ea typeface="Calibri" pitchFamily="34" charset="-122"/>
                <a:cs typeface="Calibri" pitchFamily="34" charset="-120"/>
              </a:rPr>
              <a:t>GitHub Repository &amp; Security</a:t>
            </a:r>
            <a:endParaRPr lang="en-US" sz="1400" dirty="0"/>
          </a:p>
        </p:txBody>
      </p:sp>
      <p:sp>
        <p:nvSpPr>
          <p:cNvPr id="16" name="Text 14"/>
          <p:cNvSpPr/>
          <p:nvPr/>
        </p:nvSpPr>
        <p:spPr>
          <a:xfrm>
            <a:off x="4937760" y="1371600"/>
            <a:ext cx="3840480" cy="3474720"/>
          </a:xfrm>
          <a:prstGeom prst="rect">
            <a:avLst/>
          </a:prstGeom>
          <a:noFill/>
          <a:ln/>
        </p:spPr>
        <p:txBody>
          <a:bodyPr wrap="square" rtlCol="0" anchor="t"/>
          <a:lstStyle/>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Automated Secret Scanning enabled on repository — all commits are scanned for accidentally committed API keys, tokens, and credentials</a:t>
            </a:r>
            <a:endParaRPr lang="en-US" sz="1200" dirty="0"/>
          </a:p>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Dependency vulnerability alerts via GitHub Dependabot — HuggingFace and bitsandbytes pinned to known-stable versions</a:t>
            </a:r>
            <a:endParaRPr lang="en-US" sz="1200" dirty="0"/>
          </a:p>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Model weights stored as Git LFS artifacts; training scripts and inference scripts separated for clean reproducibility</a:t>
            </a:r>
            <a:endParaRPr lang="en-US" sz="1200" dirty="0"/>
          </a:p>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requirements.txt with pinned versions ensures environment reproducibility across systems</a:t>
            </a:r>
            <a:endParaRPr lang="en-US" sz="1200" dirty="0"/>
          </a:p>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README documents full training procedure, dataset preparation, and Gradio launch instructions for independent replication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E7C7B"/>
          </a:solidFill>
          <a:ln w="12700">
            <a:solidFill>
              <a:srgbClr val="0E7C7B"/>
            </a:solidFill>
            <a:prstDash val="solid"/>
          </a:ln>
        </p:spPr>
      </p:sp>
      <p:sp>
        <p:nvSpPr>
          <p:cNvPr id="3" name="Shape 1"/>
          <p:cNvSpPr/>
          <p:nvPr/>
        </p:nvSpPr>
        <p:spPr>
          <a:xfrm>
            <a:off x="0" y="5079492"/>
            <a:ext cx="9144000" cy="64008"/>
          </a:xfrm>
          <a:prstGeom prst="rect">
            <a:avLst/>
          </a:prstGeom>
          <a:solidFill>
            <a:srgbClr val="E8A838"/>
          </a:solidFill>
          <a:ln w="12700">
            <a:solidFill>
              <a:srgbClr val="E8A838"/>
            </a:solidFill>
            <a:prstDash val="solid"/>
          </a:ln>
        </p:spPr>
      </p:sp>
      <p:sp>
        <p:nvSpPr>
          <p:cNvPr id="4" name="Text 2"/>
          <p:cNvSpPr/>
          <p:nvPr/>
        </p:nvSpPr>
        <p:spPr>
          <a:xfrm>
            <a:off x="457200" y="182880"/>
            <a:ext cx="8229600" cy="50292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Conclusions &amp; Future Directions</a:t>
            </a:r>
            <a:endParaRPr lang="en-US" sz="2600" dirty="0"/>
          </a:p>
        </p:txBody>
      </p:sp>
      <p:sp>
        <p:nvSpPr>
          <p:cNvPr id="5" name="Text 3"/>
          <p:cNvSpPr/>
          <p:nvPr/>
        </p:nvSpPr>
        <p:spPr>
          <a:xfrm>
            <a:off x="274320" y="822960"/>
            <a:ext cx="4206240" cy="320040"/>
          </a:xfrm>
          <a:prstGeom prst="rect">
            <a:avLst/>
          </a:prstGeom>
          <a:noFill/>
          <a:ln/>
        </p:spPr>
        <p:txBody>
          <a:bodyPr wrap="square" rtlCol="0" anchor="ctr"/>
          <a:lstStyle/>
          <a:p>
            <a:pPr indent="0" marL="0">
              <a:buNone/>
            </a:pPr>
            <a:r>
              <a:rPr lang="en-US" sz="1500" b="1" dirty="0">
                <a:solidFill>
                  <a:srgbClr val="E8A838"/>
                </a:solidFill>
                <a:latin typeface="Calibri" pitchFamily="34" charset="0"/>
                <a:ea typeface="Calibri" pitchFamily="34" charset="-122"/>
                <a:cs typeface="Calibri" pitchFamily="34" charset="-120"/>
              </a:rPr>
              <a:t>Key Contributions</a:t>
            </a:r>
            <a:endParaRPr lang="en-US" sz="1500" dirty="0"/>
          </a:p>
        </p:txBody>
      </p:sp>
      <p:sp>
        <p:nvSpPr>
          <p:cNvPr id="6" name="Text 4"/>
          <p:cNvSpPr/>
          <p:nvPr/>
        </p:nvSpPr>
        <p:spPr>
          <a:xfrm>
            <a:off x="274320" y="1170432"/>
            <a:ext cx="4114800" cy="2468880"/>
          </a:xfrm>
          <a:prstGeom prst="rect">
            <a:avLst/>
          </a:prstGeom>
          <a:noFill/>
          <a:ln/>
        </p:spPr>
        <p:txBody>
          <a:bodyPr wrap="square" rtlCol="0" anchor="t"/>
          <a:lstStyle/>
          <a:p>
            <a:pPr marL="342900" indent="-342900">
              <a:buSzPct val="100000"/>
              <a:buChar char="•"/>
            </a:pPr>
            <a:r>
              <a:rPr lang="en-US" sz="1200" dirty="0">
                <a:solidFill>
                  <a:srgbClr val="F0F4F8"/>
                </a:solidFill>
                <a:latin typeface="Calibri" pitchFamily="34" charset="0"/>
                <a:ea typeface="Calibri" pitchFamily="34" charset="-122"/>
                <a:cs typeface="Calibri" pitchFamily="34" charset="-120"/>
              </a:rPr>
              <a:t>Demonstrated NLLB-200's superiority (79.64%, 80.81% mixed) over XLM-R (75.20%) for Hindi domain classification under identical low-resource conditions</a:t>
            </a:r>
            <a:endParaRPr lang="en-US" sz="1200" dirty="0"/>
          </a:p>
          <a:p>
            <a:pPr marL="342900" indent="-342900">
              <a:buSzPct val="100000"/>
              <a:buChar char="•"/>
            </a:pPr>
            <a:r>
              <a:rPr lang="en-US" sz="1200" dirty="0">
                <a:solidFill>
                  <a:srgbClr val="F0F4F8"/>
                </a:solidFill>
                <a:latin typeface="Calibri" pitchFamily="34" charset="0"/>
                <a:ea typeface="Calibri" pitchFamily="34" charset="-122"/>
                <a:cs typeface="Calibri" pitchFamily="34" charset="-120"/>
              </a:rPr>
              <a:t>Developed and validated a QLoRA + PEFT pipeline enabling large-model fine-tuning on 504 samples — applicable to any low-resource Indic language task</a:t>
            </a:r>
            <a:endParaRPr lang="en-US" sz="1200" dirty="0"/>
          </a:p>
          <a:p>
            <a:pPr marL="342900" indent="-342900">
              <a:buSzPct val="100000"/>
              <a:buChar char="•"/>
            </a:pPr>
            <a:r>
              <a:rPr lang="en-US" sz="1200" dirty="0">
                <a:solidFill>
                  <a:srgbClr val="F0F4F8"/>
                </a:solidFill>
                <a:latin typeface="Calibri" pitchFamily="34" charset="0"/>
                <a:ea typeface="Calibri" pitchFamily="34" charset="-122"/>
                <a:cs typeface="Calibri" pitchFamily="34" charset="-120"/>
              </a:rPr>
              <a:t>Diagnosed and resolved gradient instability (model collapse at 33.7%) through principled hyperparameter adjustment</a:t>
            </a:r>
            <a:endParaRPr lang="en-US" sz="1200" dirty="0"/>
          </a:p>
          <a:p>
            <a:pPr marL="342900" indent="-342900">
              <a:buSzPct val="100000"/>
              <a:buChar char="•"/>
            </a:pPr>
            <a:r>
              <a:rPr lang="en-US" sz="1200" dirty="0">
                <a:solidFill>
                  <a:srgbClr val="F0F4F8"/>
                </a:solidFill>
                <a:latin typeface="Calibri" pitchFamily="34" charset="0"/>
                <a:ea typeface="Calibri" pitchFamily="34" charset="-122"/>
                <a:cs typeface="Calibri" pitchFamily="34" charset="-120"/>
              </a:rPr>
              <a:t>Deployed a universal cross-lingual Gradio UI supporting 200+ languages with zero additional training cost</a:t>
            </a:r>
            <a:endParaRPr lang="en-US" sz="1200" dirty="0"/>
          </a:p>
        </p:txBody>
      </p:sp>
      <p:sp>
        <p:nvSpPr>
          <p:cNvPr id="7" name="Text 5"/>
          <p:cNvSpPr/>
          <p:nvPr/>
        </p:nvSpPr>
        <p:spPr>
          <a:xfrm>
            <a:off x="4754880" y="822960"/>
            <a:ext cx="4206240" cy="320040"/>
          </a:xfrm>
          <a:prstGeom prst="rect">
            <a:avLst/>
          </a:prstGeom>
          <a:noFill/>
          <a:ln/>
        </p:spPr>
        <p:txBody>
          <a:bodyPr wrap="square" rtlCol="0" anchor="ctr"/>
          <a:lstStyle/>
          <a:p>
            <a:pPr indent="0" marL="0">
              <a:buNone/>
            </a:pPr>
            <a:r>
              <a:rPr lang="en-US" sz="1500" b="1" dirty="0">
                <a:solidFill>
                  <a:srgbClr val="14A5A3"/>
                </a:solidFill>
                <a:latin typeface="Calibri" pitchFamily="34" charset="0"/>
                <a:ea typeface="Calibri" pitchFamily="34" charset="-122"/>
                <a:cs typeface="Calibri" pitchFamily="34" charset="-120"/>
              </a:rPr>
              <a:t>Future Work</a:t>
            </a:r>
            <a:endParaRPr lang="en-US" sz="1500" dirty="0"/>
          </a:p>
        </p:txBody>
      </p:sp>
      <p:sp>
        <p:nvSpPr>
          <p:cNvPr id="8" name="Text 6"/>
          <p:cNvSpPr/>
          <p:nvPr/>
        </p:nvSpPr>
        <p:spPr>
          <a:xfrm>
            <a:off x="4754880" y="1170432"/>
            <a:ext cx="4114800" cy="2468880"/>
          </a:xfrm>
          <a:prstGeom prst="rect">
            <a:avLst/>
          </a:prstGeom>
          <a:noFill/>
          <a:ln/>
        </p:spPr>
        <p:txBody>
          <a:bodyPr wrap="square" rtlCol="0" anchor="t"/>
          <a:lstStyle/>
          <a:p>
            <a:pPr marL="342900" indent="-342900">
              <a:buSzPct val="100000"/>
              <a:buChar char="•"/>
            </a:pPr>
            <a:r>
              <a:rPr lang="en-US" sz="1200" dirty="0">
                <a:solidFill>
                  <a:srgbClr val="F0F4F8"/>
                </a:solidFill>
                <a:latin typeface="Calibri" pitchFamily="34" charset="0"/>
                <a:ea typeface="Calibri" pitchFamily="34" charset="-122"/>
                <a:cs typeface="Calibri" pitchFamily="34" charset="-120"/>
              </a:rPr>
              <a:t>Scale dataset via back-translation augmentation using NLLB's generation capability to overcome the 504-sample constraint</a:t>
            </a:r>
            <a:endParaRPr lang="en-US" sz="1200" dirty="0"/>
          </a:p>
          <a:p>
            <a:pPr marL="342900" indent="-342900">
              <a:buSzPct val="100000"/>
              <a:buChar char="•"/>
            </a:pPr>
            <a:r>
              <a:rPr lang="en-US" sz="1200" dirty="0">
                <a:solidFill>
                  <a:srgbClr val="F0F4F8"/>
                </a:solidFill>
                <a:latin typeface="Calibri" pitchFamily="34" charset="0"/>
                <a:ea typeface="Calibri" pitchFamily="34" charset="-122"/>
                <a:cs typeface="Calibri" pitchFamily="34" charset="-120"/>
              </a:rPr>
              <a:t>Extend to multi-label classification — many Hindi documents span multiple domains</a:t>
            </a:r>
            <a:endParaRPr lang="en-US" sz="1200" dirty="0"/>
          </a:p>
          <a:p>
            <a:pPr marL="342900" indent="-342900">
              <a:buSzPct val="100000"/>
              <a:buChar char="•"/>
            </a:pPr>
            <a:r>
              <a:rPr lang="en-US" sz="1200" dirty="0">
                <a:solidFill>
                  <a:srgbClr val="F0F4F8"/>
                </a:solidFill>
                <a:latin typeface="Calibri" pitchFamily="34" charset="0"/>
                <a:ea typeface="Calibri" pitchFamily="34" charset="-122"/>
                <a:cs typeface="Calibri" pitchFamily="34" charset="-120"/>
              </a:rPr>
              <a:t>Benchmark against LLaMA-3 and Gemma-2 with instruction tuning for instruction-following domain detection</a:t>
            </a:r>
            <a:endParaRPr lang="en-US" sz="1200" dirty="0"/>
          </a:p>
          <a:p>
            <a:pPr marL="342900" indent="-342900">
              <a:buSzPct val="100000"/>
              <a:buChar char="•"/>
            </a:pPr>
            <a:r>
              <a:rPr lang="en-US" sz="1200" dirty="0">
                <a:solidFill>
                  <a:srgbClr val="F0F4F8"/>
                </a:solidFill>
                <a:latin typeface="Calibri" pitchFamily="34" charset="0"/>
                <a:ea typeface="Calibri" pitchFamily="34" charset="-122"/>
                <a:cs typeface="Calibri" pitchFamily="34" charset="-120"/>
              </a:rPr>
              <a:t>Evaluate cross-domain transfer to other Indic languages (Tamil, Bengali, Marathi) using the same trained model</a:t>
            </a:r>
            <a:endParaRPr lang="en-US" sz="1200" dirty="0"/>
          </a:p>
        </p:txBody>
      </p:sp>
      <p:sp>
        <p:nvSpPr>
          <p:cNvPr id="9" name="Shape 7"/>
          <p:cNvSpPr/>
          <p:nvPr/>
        </p:nvSpPr>
        <p:spPr>
          <a:xfrm>
            <a:off x="274320" y="3840480"/>
            <a:ext cx="8595360" cy="658368"/>
          </a:xfrm>
          <a:prstGeom prst="rect">
            <a:avLst/>
          </a:prstGeom>
          <a:solidFill>
            <a:srgbClr val="0E7C7B"/>
          </a:solidFill>
          <a:ln w="12700">
            <a:solidFill>
              <a:srgbClr val="0E7C7B"/>
            </a:solidFill>
            <a:prstDash val="solid"/>
          </a:ln>
        </p:spPr>
      </p:sp>
      <p:sp>
        <p:nvSpPr>
          <p:cNvPr id="10" name="Text 8"/>
          <p:cNvSpPr/>
          <p:nvPr/>
        </p:nvSpPr>
        <p:spPr>
          <a:xfrm>
            <a:off x="365760" y="3858768"/>
            <a:ext cx="8412480" cy="621792"/>
          </a:xfrm>
          <a:prstGeom prst="rect">
            <a:avLst/>
          </a:prstGeom>
          <a:noFill/>
          <a:ln/>
        </p:spPr>
        <p:txBody>
          <a:bodyPr wrap="square" rtlCol="0" anchor="ctr"/>
          <a:lstStyle/>
          <a:p>
            <a:pPr algn="ctr" indent="0" marL="0">
              <a:buNone/>
            </a:pPr>
            <a:r>
              <a:rPr lang="en-US" sz="1200" i="1" dirty="0">
                <a:solidFill>
                  <a:srgbClr val="FFFFFF"/>
                </a:solidFill>
                <a:latin typeface="Calibri" pitchFamily="34" charset="0"/>
                <a:ea typeface="Calibri" pitchFamily="34" charset="-122"/>
                <a:cs typeface="Calibri" pitchFamily="34" charset="-120"/>
              </a:rPr>
              <a:t>"This project demonstrates that massively multilingual models, when adapted with parameter-efficient techniques, can achieve strong domain classification performance even under acute data scarcity — a result with broad implications for low-resource NLP across South and South-East Asian languages."</a:t>
            </a:r>
            <a:endParaRPr lang="en-US" sz="1200" dirty="0"/>
          </a:p>
        </p:txBody>
      </p:sp>
      <p:sp>
        <p:nvSpPr>
          <p:cNvPr id="11" name="Text 9"/>
          <p:cNvSpPr/>
          <p:nvPr/>
        </p:nvSpPr>
        <p:spPr>
          <a:xfrm>
            <a:off x="274320" y="4572000"/>
            <a:ext cx="8595360" cy="320040"/>
          </a:xfrm>
          <a:prstGeom prst="rect">
            <a:avLst/>
          </a:prstGeom>
          <a:noFill/>
          <a:ln/>
        </p:spPr>
        <p:txBody>
          <a:bodyPr wrap="square" rtlCol="0" anchor="ctr"/>
          <a:lstStyle/>
          <a:p>
            <a:pPr algn="ctr" indent="0" marL="0">
              <a:buNone/>
            </a:pPr>
            <a:r>
              <a:rPr lang="en-US" sz="1400" b="1" dirty="0">
                <a:solidFill>
                  <a:srgbClr val="E8A838"/>
                </a:solidFill>
                <a:latin typeface="Calibri" pitchFamily="34" charset="0"/>
                <a:ea typeface="Calibri" pitchFamily="34" charset="-122"/>
                <a:cs typeface="Calibri" pitchFamily="34" charset="-120"/>
              </a:rPr>
              <a:t>Thank you.  Questions welcome.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Multi-Task Cross-Lingual Domain Classification for Hindi</dc:title>
  <dc:subject>PptxGenJS Presentation</dc:subject>
  <dc:creator>PptxGenJS</dc:creator>
  <cp:lastModifiedBy>PptxGenJS</cp:lastModifiedBy>
  <cp:revision>1</cp:revision>
  <dcterms:created xsi:type="dcterms:W3CDTF">2026-04-22T21:34:07Z</dcterms:created>
  <dcterms:modified xsi:type="dcterms:W3CDTF">2026-04-22T21:34:07Z</dcterms:modified>
</cp:coreProperties>
</file>